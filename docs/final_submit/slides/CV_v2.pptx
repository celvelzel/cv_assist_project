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0" r:id="rId5"/>
    <p:sldId id="259" r:id="rId6"/>
    <p:sldId id="260" r:id="rId7"/>
    <p:sldId id="261" r:id="rId8"/>
    <p:sldId id="269" r:id="rId9"/>
    <p:sldId id="272" r:id="rId10"/>
    <p:sldId id="262" r:id="rId11"/>
    <p:sldId id="264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20"/>
    <p:restoredTop sz="94610"/>
  </p:normalViewPr>
  <p:slideViewPr>
    <p:cSldViewPr snapToGrid="0" snapToObjects="1">
      <p:cViewPr>
        <p:scale>
          <a:sx n="108" d="100"/>
          <a:sy n="108" d="100"/>
        </p:scale>
        <p:origin x="102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jpe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760307"/>
            <a:ext cx="7143750" cy="16458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CV Assist: A Real-Time Visual Assistance System for the Visually Impaired</a:t>
            </a:r>
            <a:endParaRPr lang="en-US" sz="3295" dirty="0"/>
          </a:p>
        </p:txBody>
      </p:sp>
      <p:sp>
        <p:nvSpPr>
          <p:cNvPr id="4" name="Text 1"/>
          <p:cNvSpPr/>
          <p:nvPr/>
        </p:nvSpPr>
        <p:spPr>
          <a:xfrm>
            <a:off x="1714500" y="2891935"/>
            <a:ext cx="5715000" cy="6000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485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Empowering Independence Through Open-Vocabulary Detection, Monocular Depth, Hand Tracking &amp; LLM-Vision</a:t>
            </a:r>
            <a:endParaRPr lang="en-US" sz="1485" dirty="0"/>
          </a:p>
        </p:txBody>
      </p:sp>
      <p:sp>
        <p:nvSpPr>
          <p:cNvPr id="5" name="Text 2"/>
          <p:cNvSpPr/>
          <p:nvPr/>
        </p:nvSpPr>
        <p:spPr>
          <a:xfrm>
            <a:off x="3744498" y="3920635"/>
            <a:ext cx="1655005" cy="1628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 Group 1</a:t>
            </a:r>
            <a:endParaRPr lang="en-US" sz="1400" b="1" dirty="0">
              <a:solidFill>
                <a:srgbClr val="1A1A1A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4"/>
          <p:cNvSpPr/>
          <p:nvPr/>
        </p:nvSpPr>
        <p:spPr>
          <a:xfrm>
            <a:off x="314709" y="761266"/>
            <a:ext cx="8488632" cy="4051273"/>
          </a:xfrm>
          <a:prstGeom prst="rect">
            <a:avLst/>
          </a:prstGeom>
          <a:solidFill>
            <a:srgbClr val="F8FA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4"/>
          <p:cNvSpPr/>
          <p:nvPr/>
        </p:nvSpPr>
        <p:spPr>
          <a:xfrm>
            <a:off x="656811" y="1194074"/>
            <a:ext cx="1102967" cy="915228"/>
          </a:xfrm>
          <a:custGeom>
            <a:avLst/>
            <a:gdLst/>
            <a:ahLst/>
            <a:cxnLst/>
            <a:rect l="l" t="t" r="r" b="b"/>
            <a:pathLst>
              <a:path w="895350" h="742950">
                <a:moveTo>
                  <a:pt x="76197" y="0"/>
                </a:moveTo>
                <a:lnTo>
                  <a:pt x="819153" y="0"/>
                </a:lnTo>
                <a:cubicBezTo>
                  <a:pt x="861235" y="0"/>
                  <a:pt x="895350" y="34115"/>
                  <a:pt x="895350" y="76197"/>
                </a:cubicBezTo>
                <a:lnTo>
                  <a:pt x="895350" y="666753"/>
                </a:lnTo>
                <a:cubicBezTo>
                  <a:pt x="895350" y="708835"/>
                  <a:pt x="861235" y="742950"/>
                  <a:pt x="81915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5"/>
          <p:cNvSpPr/>
          <p:nvPr/>
        </p:nvSpPr>
        <p:spPr>
          <a:xfrm>
            <a:off x="1069422" y="130920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1" name="Text 6"/>
          <p:cNvSpPr/>
          <p:nvPr/>
        </p:nvSpPr>
        <p:spPr>
          <a:xfrm>
            <a:off x="940182" y="1605883"/>
            <a:ext cx="619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Webcam</a:t>
            </a:r>
            <a:endParaRPr lang="en-US" sz="1600" dirty="0"/>
          </a:p>
        </p:txBody>
      </p:sp>
      <p:sp>
        <p:nvSpPr>
          <p:cNvPr id="32" name="Text 7"/>
          <p:cNvSpPr/>
          <p:nvPr/>
        </p:nvSpPr>
        <p:spPr>
          <a:xfrm>
            <a:off x="1040846" y="1838950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34" name="Shape 9"/>
          <p:cNvSpPr/>
          <p:nvPr/>
        </p:nvSpPr>
        <p:spPr>
          <a:xfrm>
            <a:off x="2982711" y="1188868"/>
            <a:ext cx="1047750" cy="590550"/>
          </a:xfrm>
          <a:custGeom>
            <a:avLst/>
            <a:gdLst/>
            <a:ahLst/>
            <a:cxnLst/>
            <a:rect l="l" t="t" r="r" b="b"/>
            <a:pathLst>
              <a:path w="1047750" h="590550">
                <a:moveTo>
                  <a:pt x="76199" y="0"/>
                </a:moveTo>
                <a:lnTo>
                  <a:pt x="971551" y="0"/>
                </a:lnTo>
                <a:cubicBezTo>
                  <a:pt x="1013635" y="0"/>
                  <a:pt x="1047750" y="34115"/>
                  <a:pt x="1047750" y="76199"/>
                </a:cubicBezTo>
                <a:lnTo>
                  <a:pt x="1047750" y="514351"/>
                </a:lnTo>
                <a:cubicBezTo>
                  <a:pt x="1047750" y="556435"/>
                  <a:pt x="1013635" y="590550"/>
                  <a:pt x="971551" y="590550"/>
                </a:cubicBezTo>
                <a:lnTo>
                  <a:pt x="76199" y="590550"/>
                </a:lnTo>
                <a:cubicBezTo>
                  <a:pt x="34115" y="590550"/>
                  <a:pt x="0" y="556435"/>
                  <a:pt x="0" y="514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 w="25400">
            <a:solidFill>
              <a:srgbClr val="FFCA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10"/>
          <p:cNvSpPr/>
          <p:nvPr/>
        </p:nvSpPr>
        <p:spPr>
          <a:xfrm>
            <a:off x="3423242" y="122696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FFCA2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6" name="Text 11"/>
          <p:cNvSpPr/>
          <p:nvPr/>
        </p:nvSpPr>
        <p:spPr>
          <a:xfrm>
            <a:off x="3256852" y="1436518"/>
            <a:ext cx="5524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OWL-ViT</a:t>
            </a:r>
            <a:endParaRPr lang="en-US" sz="1600" dirty="0"/>
          </a:p>
        </p:txBody>
      </p:sp>
      <p:sp>
        <p:nvSpPr>
          <p:cNvPr id="37" name="Text 12"/>
          <p:cNvSpPr/>
          <p:nvPr/>
        </p:nvSpPr>
        <p:spPr>
          <a:xfrm>
            <a:off x="3259829" y="1588918"/>
            <a:ext cx="5524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38" name="Shape 13"/>
          <p:cNvSpPr/>
          <p:nvPr/>
        </p:nvSpPr>
        <p:spPr>
          <a:xfrm>
            <a:off x="2982711" y="1874668"/>
            <a:ext cx="1047750" cy="590550"/>
          </a:xfrm>
          <a:custGeom>
            <a:avLst/>
            <a:gdLst/>
            <a:ahLst/>
            <a:cxnLst/>
            <a:rect l="l" t="t" r="r" b="b"/>
            <a:pathLst>
              <a:path w="1047750" h="590550">
                <a:moveTo>
                  <a:pt x="76199" y="0"/>
                </a:moveTo>
                <a:lnTo>
                  <a:pt x="971551" y="0"/>
                </a:lnTo>
                <a:cubicBezTo>
                  <a:pt x="1013635" y="0"/>
                  <a:pt x="1047750" y="34115"/>
                  <a:pt x="1047750" y="76199"/>
                </a:cubicBezTo>
                <a:lnTo>
                  <a:pt x="1047750" y="514351"/>
                </a:lnTo>
                <a:cubicBezTo>
                  <a:pt x="1047750" y="556435"/>
                  <a:pt x="1013635" y="590550"/>
                  <a:pt x="971551" y="590550"/>
                </a:cubicBezTo>
                <a:lnTo>
                  <a:pt x="76199" y="590550"/>
                </a:lnTo>
                <a:cubicBezTo>
                  <a:pt x="34115" y="590550"/>
                  <a:pt x="0" y="556435"/>
                  <a:pt x="0" y="514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 w="25400">
            <a:solidFill>
              <a:srgbClr val="FFCA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14"/>
          <p:cNvSpPr/>
          <p:nvPr/>
        </p:nvSpPr>
        <p:spPr>
          <a:xfrm>
            <a:off x="3423242" y="191276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FFCA2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0" name="Text 15"/>
          <p:cNvSpPr/>
          <p:nvPr/>
        </p:nvSpPr>
        <p:spPr>
          <a:xfrm>
            <a:off x="3329927" y="2122318"/>
            <a:ext cx="4095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MiDaS</a:t>
            </a:r>
            <a:endParaRPr lang="en-US" sz="1600" dirty="0"/>
          </a:p>
        </p:txBody>
      </p:sp>
      <p:sp>
        <p:nvSpPr>
          <p:cNvPr id="41" name="Text 16"/>
          <p:cNvSpPr/>
          <p:nvPr/>
        </p:nvSpPr>
        <p:spPr>
          <a:xfrm>
            <a:off x="3246583" y="2274718"/>
            <a:ext cx="5810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Depth Est.</a:t>
            </a:r>
            <a:endParaRPr lang="en-US" sz="1600" dirty="0"/>
          </a:p>
        </p:txBody>
      </p:sp>
      <p:sp>
        <p:nvSpPr>
          <p:cNvPr id="42" name="Shape 17"/>
          <p:cNvSpPr/>
          <p:nvPr/>
        </p:nvSpPr>
        <p:spPr>
          <a:xfrm>
            <a:off x="2982711" y="2560468"/>
            <a:ext cx="1047750" cy="590550"/>
          </a:xfrm>
          <a:custGeom>
            <a:avLst/>
            <a:gdLst/>
            <a:ahLst/>
            <a:cxnLst/>
            <a:rect l="l" t="t" r="r" b="b"/>
            <a:pathLst>
              <a:path w="1047750" h="590550">
                <a:moveTo>
                  <a:pt x="76199" y="0"/>
                </a:moveTo>
                <a:lnTo>
                  <a:pt x="971551" y="0"/>
                </a:lnTo>
                <a:cubicBezTo>
                  <a:pt x="1013635" y="0"/>
                  <a:pt x="1047750" y="34115"/>
                  <a:pt x="1047750" y="76199"/>
                </a:cubicBezTo>
                <a:lnTo>
                  <a:pt x="1047750" y="514351"/>
                </a:lnTo>
                <a:cubicBezTo>
                  <a:pt x="1047750" y="556435"/>
                  <a:pt x="1013635" y="590550"/>
                  <a:pt x="971551" y="590550"/>
                </a:cubicBezTo>
                <a:lnTo>
                  <a:pt x="76199" y="590550"/>
                </a:lnTo>
                <a:cubicBezTo>
                  <a:pt x="34115" y="590550"/>
                  <a:pt x="0" y="556435"/>
                  <a:pt x="0" y="514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 w="25400">
            <a:solidFill>
              <a:srgbClr val="FFCA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18"/>
          <p:cNvSpPr/>
          <p:nvPr/>
        </p:nvSpPr>
        <p:spPr>
          <a:xfrm>
            <a:off x="3423242" y="259856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6441" y="10716"/>
                </a:moveTo>
                <a:cubicBezTo>
                  <a:pt x="96441" y="4789"/>
                  <a:pt x="91652" y="0"/>
                  <a:pt x="85725" y="0"/>
                </a:cubicBezTo>
                <a:cubicBezTo>
                  <a:pt x="79798" y="0"/>
                  <a:pt x="75009" y="4789"/>
                  <a:pt x="75009" y="10716"/>
                </a:cubicBezTo>
                <a:lnTo>
                  <a:pt x="75009" y="80367"/>
                </a:lnTo>
                <a:cubicBezTo>
                  <a:pt x="75009" y="83314"/>
                  <a:pt x="72598" y="85725"/>
                  <a:pt x="69652" y="85725"/>
                </a:cubicBezTo>
                <a:cubicBezTo>
                  <a:pt x="66705" y="85725"/>
                  <a:pt x="64294" y="83314"/>
                  <a:pt x="64294" y="80367"/>
                </a:cubicBezTo>
                <a:lnTo>
                  <a:pt x="64294" y="21431"/>
                </a:lnTo>
                <a:cubicBezTo>
                  <a:pt x="64294" y="15504"/>
                  <a:pt x="59505" y="10716"/>
                  <a:pt x="53578" y="10716"/>
                </a:cubicBezTo>
                <a:cubicBezTo>
                  <a:pt x="47651" y="10716"/>
                  <a:pt x="42863" y="15504"/>
                  <a:pt x="42863" y="21431"/>
                </a:cubicBezTo>
                <a:lnTo>
                  <a:pt x="42863" y="112514"/>
                </a:lnTo>
                <a:cubicBezTo>
                  <a:pt x="42863" y="113016"/>
                  <a:pt x="42863" y="113552"/>
                  <a:pt x="42896" y="114054"/>
                </a:cubicBezTo>
                <a:lnTo>
                  <a:pt x="22637" y="94766"/>
                </a:lnTo>
                <a:cubicBezTo>
                  <a:pt x="17279" y="89676"/>
                  <a:pt x="8807" y="89877"/>
                  <a:pt x="3683" y="95235"/>
                </a:cubicBezTo>
                <a:cubicBezTo>
                  <a:pt x="-1440" y="100593"/>
                  <a:pt x="-1206" y="109065"/>
                  <a:pt x="4152" y="114188"/>
                </a:cubicBezTo>
                <a:lnTo>
                  <a:pt x="41791" y="150019"/>
                </a:lnTo>
                <a:cubicBezTo>
                  <a:pt x="56224" y="163782"/>
                  <a:pt x="75411" y="171450"/>
                  <a:pt x="95369" y="171450"/>
                </a:cubicBezTo>
                <a:lnTo>
                  <a:pt x="101798" y="171450"/>
                </a:lnTo>
                <a:cubicBezTo>
                  <a:pt x="134347" y="171450"/>
                  <a:pt x="160734" y="145063"/>
                  <a:pt x="160734" y="112514"/>
                </a:cubicBezTo>
                <a:lnTo>
                  <a:pt x="160734" y="42863"/>
                </a:lnTo>
                <a:cubicBezTo>
                  <a:pt x="160734" y="36935"/>
                  <a:pt x="155946" y="32147"/>
                  <a:pt x="150019" y="32147"/>
                </a:cubicBezTo>
                <a:cubicBezTo>
                  <a:pt x="144092" y="32147"/>
                  <a:pt x="139303" y="36935"/>
                  <a:pt x="139303" y="42863"/>
                </a:cubicBezTo>
                <a:lnTo>
                  <a:pt x="139303" y="80367"/>
                </a:lnTo>
                <a:cubicBezTo>
                  <a:pt x="139303" y="83314"/>
                  <a:pt x="136892" y="85725"/>
                  <a:pt x="133945" y="85725"/>
                </a:cubicBezTo>
                <a:cubicBezTo>
                  <a:pt x="130999" y="85725"/>
                  <a:pt x="128588" y="83314"/>
                  <a:pt x="128588" y="80367"/>
                </a:cubicBezTo>
                <a:lnTo>
                  <a:pt x="128588" y="21431"/>
                </a:lnTo>
                <a:cubicBezTo>
                  <a:pt x="128588" y="15504"/>
                  <a:pt x="123799" y="10716"/>
                  <a:pt x="117872" y="10716"/>
                </a:cubicBezTo>
                <a:cubicBezTo>
                  <a:pt x="111945" y="10716"/>
                  <a:pt x="107156" y="15504"/>
                  <a:pt x="107156" y="21431"/>
                </a:cubicBezTo>
                <a:lnTo>
                  <a:pt x="107156" y="80367"/>
                </a:lnTo>
                <a:cubicBezTo>
                  <a:pt x="107156" y="83314"/>
                  <a:pt x="104745" y="85725"/>
                  <a:pt x="101798" y="85725"/>
                </a:cubicBezTo>
                <a:cubicBezTo>
                  <a:pt x="98852" y="85725"/>
                  <a:pt x="96441" y="83314"/>
                  <a:pt x="96441" y="80367"/>
                </a:cubicBezTo>
                <a:lnTo>
                  <a:pt x="96441" y="10716"/>
                </a:lnTo>
                <a:close/>
              </a:path>
            </a:pathLst>
          </a:custGeom>
          <a:solidFill>
            <a:srgbClr val="FFCA2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4" name="Text 19"/>
          <p:cNvSpPr/>
          <p:nvPr/>
        </p:nvSpPr>
        <p:spPr>
          <a:xfrm>
            <a:off x="3222919" y="2808118"/>
            <a:ext cx="6286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MediaPipe</a:t>
            </a:r>
            <a:endParaRPr lang="en-US" sz="1600" dirty="0"/>
          </a:p>
        </p:txBody>
      </p:sp>
      <p:sp>
        <p:nvSpPr>
          <p:cNvPr id="45" name="Text 20"/>
          <p:cNvSpPr/>
          <p:nvPr/>
        </p:nvSpPr>
        <p:spPr>
          <a:xfrm>
            <a:off x="3217264" y="2960518"/>
            <a:ext cx="638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 Track</a:t>
            </a:r>
            <a:endParaRPr lang="en-US" sz="1600" dirty="0"/>
          </a:p>
        </p:txBody>
      </p:sp>
      <p:sp>
        <p:nvSpPr>
          <p:cNvPr id="47" name="Shape 22"/>
          <p:cNvSpPr/>
          <p:nvPr/>
        </p:nvSpPr>
        <p:spPr>
          <a:xfrm>
            <a:off x="5104798" y="930591"/>
            <a:ext cx="1047750" cy="2385318"/>
          </a:xfrm>
          <a:custGeom>
            <a:avLst/>
            <a:gdLst/>
            <a:ahLst/>
            <a:cxnLst/>
            <a:rect l="l" t="t" r="r" b="b"/>
            <a:pathLst>
              <a:path w="1047750" h="895350">
                <a:moveTo>
                  <a:pt x="76203" y="0"/>
                </a:moveTo>
                <a:lnTo>
                  <a:pt x="971547" y="0"/>
                </a:lnTo>
                <a:cubicBezTo>
                  <a:pt x="1013633" y="0"/>
                  <a:pt x="1047750" y="34117"/>
                  <a:pt x="1047750" y="76203"/>
                </a:cubicBezTo>
                <a:lnTo>
                  <a:pt x="1047750" y="819147"/>
                </a:lnTo>
                <a:cubicBezTo>
                  <a:pt x="1047750" y="861233"/>
                  <a:pt x="1013633" y="895350"/>
                  <a:pt x="97154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30196"/>
            </a:schemeClr>
          </a:solidFill>
          <a:ln w="1905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23"/>
          <p:cNvSpPr/>
          <p:nvPr/>
        </p:nvSpPr>
        <p:spPr>
          <a:xfrm>
            <a:off x="5544617" y="1487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36937" y="145152"/>
                </a:moveTo>
                <a:lnTo>
                  <a:pt x="72509" y="169932"/>
                </a:lnTo>
                <a:cubicBezTo>
                  <a:pt x="63847" y="173281"/>
                  <a:pt x="55319" y="164753"/>
                  <a:pt x="58668" y="156091"/>
                </a:cubicBezTo>
                <a:lnTo>
                  <a:pt x="83448" y="91663"/>
                </a:lnTo>
                <a:cubicBezTo>
                  <a:pt x="84921" y="87868"/>
                  <a:pt x="87868" y="84921"/>
                  <a:pt x="91663" y="83448"/>
                </a:cubicBezTo>
                <a:lnTo>
                  <a:pt x="156091" y="58668"/>
                </a:lnTo>
                <a:cubicBezTo>
                  <a:pt x="164753" y="55319"/>
                  <a:pt x="173281" y="63847"/>
                  <a:pt x="169932" y="72509"/>
                </a:cubicBezTo>
                <a:lnTo>
                  <a:pt x="145152" y="136937"/>
                </a:lnTo>
                <a:cubicBezTo>
                  <a:pt x="143723" y="140732"/>
                  <a:pt x="140732" y="143679"/>
                  <a:pt x="136937" y="145152"/>
                </a:cubicBezTo>
                <a:close/>
                <a:moveTo>
                  <a:pt x="128588" y="114300"/>
                </a:moveTo>
                <a:cubicBezTo>
                  <a:pt x="128588" y="106415"/>
                  <a:pt x="122185" y="100013"/>
                  <a:pt x="114300" y="100013"/>
                </a:cubicBezTo>
                <a:cubicBezTo>
                  <a:pt x="106415" y="100013"/>
                  <a:pt x="100013" y="106415"/>
                  <a:pt x="100013" y="114300"/>
                </a:cubicBezTo>
                <a:cubicBezTo>
                  <a:pt x="100013" y="122185"/>
                  <a:pt x="106415" y="128588"/>
                  <a:pt x="114300" y="128588"/>
                </a:cubicBezTo>
                <a:cubicBezTo>
                  <a:pt x="122185" y="128588"/>
                  <a:pt x="128588" y="122185"/>
                  <a:pt x="128588" y="11430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9" name="Text 24"/>
          <p:cNvSpPr/>
          <p:nvPr/>
        </p:nvSpPr>
        <p:spPr>
          <a:xfrm>
            <a:off x="5365130" y="1753800"/>
            <a:ext cx="657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Guidance</a:t>
            </a:r>
            <a:endParaRPr lang="en-US" sz="1600" dirty="0"/>
          </a:p>
        </p:txBody>
      </p:sp>
      <p:sp>
        <p:nvSpPr>
          <p:cNvPr id="50" name="Text 25"/>
          <p:cNvSpPr/>
          <p:nvPr/>
        </p:nvSpPr>
        <p:spPr>
          <a:xfrm>
            <a:off x="5165045" y="2290356"/>
            <a:ext cx="927256" cy="2945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Controller</a:t>
            </a:r>
            <a:endParaRPr lang="en-US" sz="900" dirty="0">
              <a:solidFill>
                <a:srgbClr val="8D8D8D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 PROCESSING LAYER</a:t>
            </a:r>
            <a:endParaRPr lang="en-US" sz="900" dirty="0">
              <a:solidFill>
                <a:srgbClr val="8D8D8D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ctr">
              <a:lnSpc>
                <a:spcPct val="110000"/>
              </a:lnSpc>
            </a:pPr>
            <a:endParaRPr lang="en-US" sz="900" dirty="0">
              <a:solidFill>
                <a:srgbClr val="8D8D8D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52" name="Shape 27"/>
          <p:cNvSpPr/>
          <p:nvPr/>
        </p:nvSpPr>
        <p:spPr>
          <a:xfrm>
            <a:off x="7421997" y="927239"/>
            <a:ext cx="1047750" cy="2364125"/>
          </a:xfrm>
          <a:custGeom>
            <a:avLst/>
            <a:gdLst/>
            <a:ahLst/>
            <a:cxnLst/>
            <a:rect l="l" t="t" r="r" b="b"/>
            <a:pathLst>
              <a:path w="895350" h="742950">
                <a:moveTo>
                  <a:pt x="76197" y="0"/>
                </a:moveTo>
                <a:lnTo>
                  <a:pt x="819153" y="0"/>
                </a:lnTo>
                <a:cubicBezTo>
                  <a:pt x="861235" y="0"/>
                  <a:pt x="895350" y="34115"/>
                  <a:pt x="895350" y="76197"/>
                </a:cubicBezTo>
                <a:lnTo>
                  <a:pt x="895350" y="666753"/>
                </a:lnTo>
                <a:cubicBezTo>
                  <a:pt x="895350" y="708835"/>
                  <a:pt x="861235" y="742950"/>
                  <a:pt x="81915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CA28">
              <a:alpha val="30196"/>
            </a:srgbClr>
          </a:solidFill>
          <a:ln w="19050">
            <a:solidFill>
              <a:srgbClr val="FFCA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28"/>
          <p:cNvSpPr/>
          <p:nvPr/>
        </p:nvSpPr>
        <p:spPr>
          <a:xfrm>
            <a:off x="7831810" y="149536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38244" y="14511"/>
                </a:moveTo>
                <a:cubicBezTo>
                  <a:pt x="233645" y="10760"/>
                  <a:pt x="226903" y="11475"/>
                  <a:pt x="223153" y="16073"/>
                </a:cubicBezTo>
                <a:cubicBezTo>
                  <a:pt x="219402" y="20672"/>
                  <a:pt x="220117" y="27414"/>
                  <a:pt x="224716" y="31165"/>
                </a:cubicBezTo>
                <a:cubicBezTo>
                  <a:pt x="248915" y="50810"/>
                  <a:pt x="264319" y="80724"/>
                  <a:pt x="264319" y="114300"/>
                </a:cubicBezTo>
                <a:cubicBezTo>
                  <a:pt x="264319" y="147876"/>
                  <a:pt x="248915" y="177790"/>
                  <a:pt x="224716" y="197480"/>
                </a:cubicBezTo>
                <a:cubicBezTo>
                  <a:pt x="220117" y="201231"/>
                  <a:pt x="219447" y="207972"/>
                  <a:pt x="223153" y="212571"/>
                </a:cubicBezTo>
                <a:cubicBezTo>
                  <a:pt x="226859" y="217170"/>
                  <a:pt x="233645" y="217840"/>
                  <a:pt x="238244" y="214134"/>
                </a:cubicBezTo>
                <a:cubicBezTo>
                  <a:pt x="267221" y="190515"/>
                  <a:pt x="285750" y="154573"/>
                  <a:pt x="285750" y="114300"/>
                </a:cubicBezTo>
                <a:cubicBezTo>
                  <a:pt x="285750" y="74027"/>
                  <a:pt x="267221" y="38040"/>
                  <a:pt x="238244" y="14511"/>
                </a:cubicBezTo>
                <a:close/>
                <a:moveTo>
                  <a:pt x="211232" y="47774"/>
                </a:moveTo>
                <a:cubicBezTo>
                  <a:pt x="206633" y="44023"/>
                  <a:pt x="199891" y="44738"/>
                  <a:pt x="196141" y="49337"/>
                </a:cubicBezTo>
                <a:cubicBezTo>
                  <a:pt x="192390" y="53935"/>
                  <a:pt x="193104" y="60677"/>
                  <a:pt x="197703" y="64428"/>
                </a:cubicBezTo>
                <a:cubicBezTo>
                  <a:pt x="212214" y="76215"/>
                  <a:pt x="221456" y="94164"/>
                  <a:pt x="221456" y="114300"/>
                </a:cubicBezTo>
                <a:cubicBezTo>
                  <a:pt x="221456" y="134436"/>
                  <a:pt x="212214" y="152385"/>
                  <a:pt x="197703" y="164217"/>
                </a:cubicBezTo>
                <a:cubicBezTo>
                  <a:pt x="193104" y="167967"/>
                  <a:pt x="192435" y="174709"/>
                  <a:pt x="196141" y="179308"/>
                </a:cubicBezTo>
                <a:cubicBezTo>
                  <a:pt x="199846" y="183907"/>
                  <a:pt x="206633" y="184577"/>
                  <a:pt x="211232" y="180871"/>
                </a:cubicBezTo>
                <a:cubicBezTo>
                  <a:pt x="230520" y="165155"/>
                  <a:pt x="242888" y="141178"/>
                  <a:pt x="242888" y="114345"/>
                </a:cubicBezTo>
                <a:cubicBezTo>
                  <a:pt x="242888" y="87511"/>
                  <a:pt x="230520" y="63535"/>
                  <a:pt x="211232" y="47818"/>
                </a:cubicBezTo>
                <a:close/>
                <a:moveTo>
                  <a:pt x="184219" y="81037"/>
                </a:moveTo>
                <a:cubicBezTo>
                  <a:pt x="179621" y="77286"/>
                  <a:pt x="172879" y="78001"/>
                  <a:pt x="169128" y="82600"/>
                </a:cubicBezTo>
                <a:cubicBezTo>
                  <a:pt x="165378" y="87198"/>
                  <a:pt x="166092" y="93940"/>
                  <a:pt x="170691" y="97691"/>
                </a:cubicBezTo>
                <a:cubicBezTo>
                  <a:pt x="175513" y="101620"/>
                  <a:pt x="178594" y="107603"/>
                  <a:pt x="178594" y="114300"/>
                </a:cubicBezTo>
                <a:cubicBezTo>
                  <a:pt x="178594" y="120997"/>
                  <a:pt x="175513" y="126980"/>
                  <a:pt x="170691" y="130954"/>
                </a:cubicBezTo>
                <a:cubicBezTo>
                  <a:pt x="166092" y="134704"/>
                  <a:pt x="165422" y="141446"/>
                  <a:pt x="169128" y="146045"/>
                </a:cubicBezTo>
                <a:cubicBezTo>
                  <a:pt x="172834" y="150644"/>
                  <a:pt x="179621" y="151314"/>
                  <a:pt x="184219" y="147608"/>
                </a:cubicBezTo>
                <a:cubicBezTo>
                  <a:pt x="193819" y="139705"/>
                  <a:pt x="200025" y="127739"/>
                  <a:pt x="200025" y="114300"/>
                </a:cubicBezTo>
                <a:cubicBezTo>
                  <a:pt x="200025" y="100861"/>
                  <a:pt x="193819" y="88895"/>
                  <a:pt x="184219" y="81037"/>
                </a:cubicBezTo>
                <a:close/>
                <a:moveTo>
                  <a:pt x="35719" y="157163"/>
                </a:moveTo>
                <a:lnTo>
                  <a:pt x="57150" y="157163"/>
                </a:lnTo>
                <a:lnTo>
                  <a:pt x="117024" y="210383"/>
                </a:lnTo>
                <a:cubicBezTo>
                  <a:pt x="119881" y="212928"/>
                  <a:pt x="123542" y="214313"/>
                  <a:pt x="127337" y="214313"/>
                </a:cubicBezTo>
                <a:cubicBezTo>
                  <a:pt x="135910" y="214313"/>
                  <a:pt x="142875" y="207347"/>
                  <a:pt x="142875" y="198775"/>
                </a:cubicBezTo>
                <a:lnTo>
                  <a:pt x="142875" y="29825"/>
                </a:lnTo>
                <a:cubicBezTo>
                  <a:pt x="142875" y="21253"/>
                  <a:pt x="135910" y="14288"/>
                  <a:pt x="127337" y="14288"/>
                </a:cubicBezTo>
                <a:cubicBezTo>
                  <a:pt x="123542" y="14288"/>
                  <a:pt x="119881" y="15672"/>
                  <a:pt x="117024" y="18217"/>
                </a:cubicBezTo>
                <a:lnTo>
                  <a:pt x="57150" y="71438"/>
                </a:lnTo>
                <a:lnTo>
                  <a:pt x="35719" y="71438"/>
                </a:lnTo>
                <a:cubicBezTo>
                  <a:pt x="23887" y="71438"/>
                  <a:pt x="14288" y="81037"/>
                  <a:pt x="14288" y="92869"/>
                </a:cubicBezTo>
                <a:lnTo>
                  <a:pt x="14288" y="135731"/>
                </a:lnTo>
                <a:cubicBezTo>
                  <a:pt x="14288" y="147563"/>
                  <a:pt x="23887" y="157163"/>
                  <a:pt x="35719" y="157163"/>
                </a:cubicBezTo>
                <a:close/>
              </a:path>
            </a:pathLst>
          </a:custGeom>
          <a:solidFill>
            <a:srgbClr val="FFCA2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4" name="Text 29"/>
          <p:cNvSpPr/>
          <p:nvPr/>
        </p:nvSpPr>
        <p:spPr>
          <a:xfrm>
            <a:off x="7855663" y="1788814"/>
            <a:ext cx="285750" cy="396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TTS</a:t>
            </a:r>
            <a:endParaRPr lang="en-US" sz="1050" b="1" dirty="0"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7576034" y="2136057"/>
            <a:ext cx="739675" cy="8926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900" dirty="0">
              <a:solidFill>
                <a:srgbClr val="8D8D8D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Audio Guidance</a:t>
            </a:r>
            <a:endParaRPr lang="en-US" sz="900" dirty="0">
              <a:solidFill>
                <a:srgbClr val="8D8D8D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ctr">
              <a:lnSpc>
                <a:spcPct val="110000"/>
              </a:lnSpc>
            </a:pPr>
            <a:endParaRPr lang="en-US" sz="900" dirty="0">
              <a:solidFill>
                <a:srgbClr val="8D8D8D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ctr"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56" name="Shape 4"/>
          <p:cNvSpPr/>
          <p:nvPr/>
        </p:nvSpPr>
        <p:spPr>
          <a:xfrm>
            <a:off x="674253" y="2181035"/>
            <a:ext cx="1102967" cy="915228"/>
          </a:xfrm>
          <a:custGeom>
            <a:avLst/>
            <a:gdLst/>
            <a:ahLst/>
            <a:cxnLst/>
            <a:rect l="l" t="t" r="r" b="b"/>
            <a:pathLst>
              <a:path w="895350" h="742950">
                <a:moveTo>
                  <a:pt x="76197" y="0"/>
                </a:moveTo>
                <a:lnTo>
                  <a:pt x="819153" y="0"/>
                </a:lnTo>
                <a:cubicBezTo>
                  <a:pt x="861235" y="0"/>
                  <a:pt x="895350" y="34115"/>
                  <a:pt x="895350" y="76197"/>
                </a:cubicBezTo>
                <a:lnTo>
                  <a:pt x="895350" y="666753"/>
                </a:lnTo>
                <a:cubicBezTo>
                  <a:pt x="895350" y="708835"/>
                  <a:pt x="861235" y="742950"/>
                  <a:pt x="81915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6"/>
          <p:cNvSpPr/>
          <p:nvPr/>
        </p:nvSpPr>
        <p:spPr>
          <a:xfrm>
            <a:off x="865271" y="2606259"/>
            <a:ext cx="76894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Microphone</a:t>
            </a:r>
            <a:endParaRPr lang="en-US" sz="1600" dirty="0"/>
          </a:p>
        </p:txBody>
      </p:sp>
      <p:sp>
        <p:nvSpPr>
          <p:cNvPr id="58" name="Shape 4"/>
          <p:cNvSpPr/>
          <p:nvPr/>
        </p:nvSpPr>
        <p:spPr>
          <a:xfrm>
            <a:off x="646524" y="3572025"/>
            <a:ext cx="1102967" cy="994855"/>
          </a:xfrm>
          <a:custGeom>
            <a:avLst/>
            <a:gdLst/>
            <a:ahLst/>
            <a:cxnLst/>
            <a:rect l="l" t="t" r="r" b="b"/>
            <a:pathLst>
              <a:path w="895350" h="742950">
                <a:moveTo>
                  <a:pt x="76197" y="0"/>
                </a:moveTo>
                <a:lnTo>
                  <a:pt x="819153" y="0"/>
                </a:lnTo>
                <a:cubicBezTo>
                  <a:pt x="861235" y="0"/>
                  <a:pt x="895350" y="34115"/>
                  <a:pt x="895350" y="76197"/>
                </a:cubicBezTo>
                <a:lnTo>
                  <a:pt x="895350" y="666753"/>
                </a:lnTo>
                <a:cubicBezTo>
                  <a:pt x="895350" y="708835"/>
                  <a:pt x="861235" y="742950"/>
                  <a:pt x="81915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6"/>
          <p:cNvSpPr/>
          <p:nvPr/>
        </p:nvSpPr>
        <p:spPr>
          <a:xfrm>
            <a:off x="778061" y="4030038"/>
            <a:ext cx="895349" cy="92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latin typeface="Liter" pitchFamily="34" charset="0"/>
              </a:rPr>
              <a:t>Whisper</a:t>
            </a:r>
            <a:r>
              <a:rPr lang="zh-CN" altLang="en-US" sz="1050" b="1" dirty="0">
                <a:latin typeface="Liter" pitchFamily="34" charset="0"/>
              </a:rPr>
              <a:t> </a:t>
            </a:r>
            <a:r>
              <a:rPr lang="en-US" altLang="zh-CN" sz="1050" b="1" dirty="0">
                <a:latin typeface="Liter" pitchFamily="34" charset="0"/>
              </a:rPr>
              <a:t>ASR</a:t>
            </a:r>
            <a:endParaRPr lang="en-US" sz="1600" dirty="0"/>
          </a:p>
        </p:txBody>
      </p:sp>
      <p:pic>
        <p:nvPicPr>
          <p:cNvPr id="61" name="图形 6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911" y="2293085"/>
            <a:ext cx="288000" cy="288000"/>
          </a:xfrm>
          <a:prstGeom prst="rect">
            <a:avLst/>
          </a:prstGeom>
        </p:spPr>
      </p:pic>
      <p:sp>
        <p:nvSpPr>
          <p:cNvPr id="62" name="Text 7"/>
          <p:cNvSpPr/>
          <p:nvPr/>
        </p:nvSpPr>
        <p:spPr>
          <a:xfrm>
            <a:off x="1051131" y="2831797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pic>
        <p:nvPicPr>
          <p:cNvPr id="64" name="图形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969" y="3674004"/>
            <a:ext cx="288000" cy="288000"/>
          </a:xfrm>
          <a:prstGeom prst="rect">
            <a:avLst/>
          </a:prstGeom>
        </p:spPr>
      </p:pic>
      <p:sp>
        <p:nvSpPr>
          <p:cNvPr id="68" name="Shape 4"/>
          <p:cNvSpPr/>
          <p:nvPr/>
        </p:nvSpPr>
        <p:spPr>
          <a:xfrm>
            <a:off x="2472528" y="3582817"/>
            <a:ext cx="1411984" cy="995109"/>
          </a:xfrm>
          <a:custGeom>
            <a:avLst/>
            <a:gdLst/>
            <a:ahLst/>
            <a:cxnLst/>
            <a:rect l="l" t="t" r="r" b="b"/>
            <a:pathLst>
              <a:path w="895350" h="742950">
                <a:moveTo>
                  <a:pt x="76197" y="0"/>
                </a:moveTo>
                <a:lnTo>
                  <a:pt x="819153" y="0"/>
                </a:lnTo>
                <a:cubicBezTo>
                  <a:pt x="861235" y="0"/>
                  <a:pt x="895350" y="34115"/>
                  <a:pt x="895350" y="76197"/>
                </a:cubicBezTo>
                <a:lnTo>
                  <a:pt x="895350" y="666753"/>
                </a:lnTo>
                <a:cubicBezTo>
                  <a:pt x="895350" y="708835"/>
                  <a:pt x="861235" y="742950"/>
                  <a:pt x="81915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6" name="图形 6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0431" y="3767157"/>
            <a:ext cx="392728" cy="288000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769503" y="4122804"/>
            <a:ext cx="1211520" cy="389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900" dirty="0">
                <a:solidFill>
                  <a:srgbClr val="8D8D8D"/>
                </a:solidFill>
                <a:latin typeface="Liter" pitchFamily="34" charset="0"/>
              </a:rPr>
              <a:t>Speech-to-Text Recognition</a:t>
            </a:r>
            <a:endParaRPr lang="zh-CN" altLang="en-US" sz="900" dirty="0">
              <a:solidFill>
                <a:srgbClr val="8D8D8D"/>
              </a:solidFill>
              <a:latin typeface="Liter" pitchFamily="34" charset="0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566471" y="930063"/>
            <a:ext cx="1330701" cy="2385846"/>
          </a:xfrm>
          <a:custGeom>
            <a:avLst/>
            <a:gdLst/>
            <a:ahLst/>
            <a:cxnLst/>
            <a:rect l="l" t="t" r="r" b="b"/>
            <a:pathLst>
              <a:path w="895350" h="742950">
                <a:moveTo>
                  <a:pt x="76197" y="0"/>
                </a:moveTo>
                <a:lnTo>
                  <a:pt x="819153" y="0"/>
                </a:lnTo>
                <a:cubicBezTo>
                  <a:pt x="861235" y="0"/>
                  <a:pt x="895350" y="34115"/>
                  <a:pt x="895350" y="76197"/>
                </a:cubicBezTo>
                <a:lnTo>
                  <a:pt x="895350" y="666753"/>
                </a:lnTo>
                <a:cubicBezTo>
                  <a:pt x="895350" y="708835"/>
                  <a:pt x="861235" y="742950"/>
                  <a:pt x="81915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noFill/>
          <a:ln w="19050" cap="rnd">
            <a:solidFill>
              <a:schemeClr val="accent1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75" name="直线箭头连接符 74"/>
          <p:cNvCxnSpPr/>
          <p:nvPr/>
        </p:nvCxnSpPr>
        <p:spPr>
          <a:xfrm>
            <a:off x="1252316" y="3096263"/>
            <a:ext cx="0" cy="4816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线箭头连接符 78"/>
          <p:cNvCxnSpPr/>
          <p:nvPr/>
        </p:nvCxnSpPr>
        <p:spPr>
          <a:xfrm>
            <a:off x="1749491" y="3987697"/>
            <a:ext cx="70241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2463609" y="4027693"/>
            <a:ext cx="1402966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GB" altLang="zh-CN" sz="1050" b="1" dirty="0">
                <a:latin typeface="Liter" pitchFamily="34" charset="0"/>
              </a:rPr>
              <a:t>DeepSeek LLM-Vision</a:t>
            </a:r>
            <a:endParaRPr lang="en-GB" altLang="zh-CN" sz="1050" b="1" dirty="0">
              <a:latin typeface="Liter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445672" y="4263707"/>
            <a:ext cx="1869757" cy="237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None/>
            </a:pPr>
            <a:r>
              <a:rPr lang="en-GB" altLang="zh-CN" sz="900" dirty="0">
                <a:solidFill>
                  <a:srgbClr val="8D8D8D"/>
                </a:solidFill>
                <a:latin typeface="Liter" pitchFamily="34" charset="0"/>
              </a:rPr>
              <a:t>Multimodal Error Correction</a:t>
            </a:r>
            <a:endParaRPr lang="en-GB" altLang="zh-CN" sz="900" dirty="0">
              <a:solidFill>
                <a:srgbClr val="8D8D8D"/>
              </a:solidFill>
              <a:latin typeface="Liter" pitchFamily="34" charset="0"/>
            </a:endParaRPr>
          </a:p>
        </p:txBody>
      </p:sp>
      <p:cxnSp>
        <p:nvCxnSpPr>
          <p:cNvPr id="86" name="直线箭头连接符 85"/>
          <p:cNvCxnSpPr/>
          <p:nvPr/>
        </p:nvCxnSpPr>
        <p:spPr>
          <a:xfrm>
            <a:off x="1897172" y="2109301"/>
            <a:ext cx="977422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7" name="Shape 9"/>
          <p:cNvSpPr/>
          <p:nvPr/>
        </p:nvSpPr>
        <p:spPr>
          <a:xfrm>
            <a:off x="2874594" y="940079"/>
            <a:ext cx="1252783" cy="2385846"/>
          </a:xfrm>
          <a:custGeom>
            <a:avLst/>
            <a:gdLst/>
            <a:ahLst/>
            <a:cxnLst/>
            <a:rect l="l" t="t" r="r" b="b"/>
            <a:pathLst>
              <a:path w="1047750" h="590550">
                <a:moveTo>
                  <a:pt x="76199" y="0"/>
                </a:moveTo>
                <a:lnTo>
                  <a:pt x="971551" y="0"/>
                </a:lnTo>
                <a:cubicBezTo>
                  <a:pt x="1013635" y="0"/>
                  <a:pt x="1047750" y="34115"/>
                  <a:pt x="1047750" y="76199"/>
                </a:cubicBezTo>
                <a:lnTo>
                  <a:pt x="1047750" y="514351"/>
                </a:lnTo>
                <a:cubicBezTo>
                  <a:pt x="1047750" y="556435"/>
                  <a:pt x="1013635" y="590550"/>
                  <a:pt x="971551" y="590550"/>
                </a:cubicBezTo>
                <a:lnTo>
                  <a:pt x="76199" y="590550"/>
                </a:lnTo>
                <a:cubicBezTo>
                  <a:pt x="34115" y="590550"/>
                  <a:pt x="0" y="556435"/>
                  <a:pt x="0" y="514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noFill/>
          <a:ln w="19050">
            <a:solidFill>
              <a:srgbClr val="FFCA2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cxnSp>
        <p:nvCxnSpPr>
          <p:cNvPr id="92" name="直线箭头连接符 91"/>
          <p:cNvCxnSpPr/>
          <p:nvPr/>
        </p:nvCxnSpPr>
        <p:spPr>
          <a:xfrm>
            <a:off x="4127377" y="2040150"/>
            <a:ext cx="977421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直线箭头连接符 92"/>
          <p:cNvCxnSpPr/>
          <p:nvPr/>
        </p:nvCxnSpPr>
        <p:spPr>
          <a:xfrm>
            <a:off x="6152548" y="2109302"/>
            <a:ext cx="1291461" cy="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4" name="文本框 113"/>
          <p:cNvSpPr txBox="1"/>
          <p:nvPr/>
        </p:nvSpPr>
        <p:spPr>
          <a:xfrm>
            <a:off x="314709" y="26468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Playfair Display" pitchFamily="34" charset="0"/>
              </a:rPr>
              <a:t>Complete Data Flow Architecture</a:t>
            </a:r>
            <a:endParaRPr lang="zh-CN" altLang="en-US" b="1" dirty="0">
              <a:latin typeface="Playfair Display" pitchFamily="34" charset="0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zh-CN" altLang="en-US"/>
          </a:p>
        </p:txBody>
      </p:sp>
      <p:cxnSp>
        <p:nvCxnSpPr>
          <p:cNvPr id="163" name="直线箭头连接符 162"/>
          <p:cNvCxnSpPr/>
          <p:nvPr/>
        </p:nvCxnSpPr>
        <p:spPr>
          <a:xfrm flipV="1">
            <a:off x="3497391" y="3322459"/>
            <a:ext cx="0" cy="26035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436032" y="225716"/>
            <a:ext cx="4135968" cy="483081"/>
          </a:xfrm>
          <a:prstGeom prst="rect">
            <a:avLst/>
          </a:prstGeom>
          <a:noFill/>
        </p:spPr>
        <p:txBody>
          <a:bodyPr wrap="square" lIns="0" tIns="204089" rIns="0" bIns="0" rtlCol="0" anchor="t">
            <a:spAutoFit/>
          </a:bodyPr>
          <a:lstStyle/>
          <a:p>
            <a:pPr fontAlgn="base"/>
            <a:r>
              <a:rPr lang="en-GB" altLang="zh-CN" b="1" dirty="0">
                <a:latin typeface="Playfair Display" pitchFamily="34" charset="0"/>
                <a:cs typeface="Playbill" panose="020F0502020204030204" pitchFamily="34" charset="0"/>
              </a:rPr>
              <a:t>Search for Any Object by Name</a:t>
            </a:r>
            <a:endParaRPr lang="en-GB" altLang="zh-CN" b="1" dirty="0">
              <a:latin typeface="Playfair Display" pitchFamily="34" charset="0"/>
              <a:cs typeface="Playbill" panose="020F0502020204030204" pitchFamily="34" charset="0"/>
            </a:endParaRPr>
          </a:p>
        </p:txBody>
      </p:sp>
      <p:sp>
        <p:nvSpPr>
          <p:cNvPr id="7" name="Text 4"/>
          <p:cNvSpPr/>
          <p:nvPr>
            <p:custDataLst>
              <p:tags r:id="rId1"/>
            </p:custDataLst>
          </p:nvPr>
        </p:nvSpPr>
        <p:spPr>
          <a:xfrm>
            <a:off x="436033" y="1056382"/>
            <a:ext cx="115794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Model: </a:t>
            </a:r>
            <a:r>
              <a:rPr lang="en-US" sz="1100" b="1" kern="0" spc="1" dirty="0">
                <a:solidFill>
                  <a:srgbClr val="00B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OWL-VIT V2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436032" y="1268908"/>
            <a:ext cx="3306233" cy="524182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the Open-Vocabulary Vision Transformer, a CLIP-based detector that accepts free-text queries instead of relying on predefined classes.</a:t>
            </a:r>
            <a:endParaRPr lang="en-US" sz="90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4856903" y="1056432"/>
            <a:ext cx="83535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</a:rPr>
              <a:t>Key</a:t>
            </a:r>
            <a:r>
              <a:rPr lang="zh-CN" alt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</a:rPr>
              <a:t>Capability</a:t>
            </a:r>
            <a:endParaRPr lang="en-US" sz="1100" dirty="0"/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4856903" y="1228070"/>
            <a:ext cx="3306234" cy="344646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0B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Open-vocabulary, zero-shot</a:t>
            </a:r>
            <a:r>
              <a:rPr lang="en-US" sz="900" dirty="0">
                <a:solidFill>
                  <a:srgbClr val="00B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from natural language queries.</a:t>
            </a:r>
            <a:endParaRPr lang="en-US" sz="900" dirty="0"/>
          </a:p>
        </p:txBody>
      </p:sp>
      <p:pic>
        <p:nvPicPr>
          <p:cNvPr id="3" name="Picture 6" descr="，AI 生成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57"/>
          <a:stretch>
            <a:fillRect/>
          </a:stretch>
        </p:blipFill>
        <p:spPr bwMode="auto">
          <a:xfrm>
            <a:off x="1252855" y="1851025"/>
            <a:ext cx="6669405" cy="329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296689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71500" y="205746"/>
            <a:ext cx="6281142" cy="470193"/>
          </a:xfrm>
          <a:prstGeom prst="rect">
            <a:avLst/>
          </a:prstGeom>
          <a:noFill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Accurate Distance Sensing from a </a:t>
            </a:r>
            <a:r>
              <a:rPr lang="en-US" sz="1600" b="1" dirty="0">
                <a:solidFill>
                  <a:srgbClr val="0070C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Single Consumer </a:t>
            </a: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Camera</a:t>
            </a: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1"/>
            </p:custDataLst>
          </p:nvPr>
        </p:nvSpPr>
        <p:spPr>
          <a:xfrm>
            <a:off x="571500" y="1143000"/>
            <a:ext cx="116730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r>
              <a:rPr lang="zh-CN" alt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571500" y="1355527"/>
            <a:ext cx="3614001" cy="34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0B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MiDaS_small </a:t>
            </a: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lightweight monocular depth estimation model optimized for real-time inference on standard hardware.</a:t>
            </a:r>
            <a:endParaRPr lang="en-US" sz="90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571500" y="1892703"/>
            <a:ext cx="621389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571500" y="2061765"/>
            <a:ext cx="3614001" cy="522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Dynamically generates </a:t>
            </a:r>
            <a:r>
              <a:rPr lang="en-US" sz="9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per-pixel relative depth </a:t>
            </a: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 from a single RGB stream, enabling precise distance estimation between the user's hand and the target object without additional sensors.</a:t>
            </a:r>
            <a:endParaRPr lang="en-US" sz="900" dirty="0"/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571500" y="2661260"/>
            <a:ext cx="1001941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ADVANTAGE</a:t>
            </a:r>
            <a:endParaRPr lang="en-US" sz="1100" dirty="0"/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571500" y="2854933"/>
            <a:ext cx="3614001" cy="34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the need for expensive stereo cameras or LiDAR — runs entirely on any standard consumer-grade webcam.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289196" y="857250"/>
            <a:ext cx="4854804" cy="428625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rcRect l="80632" b="80574"/>
          <a:stretch>
            <a:fillRect/>
          </a:stretch>
        </p:blipFill>
        <p:spPr>
          <a:xfrm>
            <a:off x="4852887" y="1378459"/>
            <a:ext cx="3999509" cy="27633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71500" y="205746"/>
            <a:ext cx="7181255" cy="445759"/>
          </a:xfrm>
          <a:prstGeom prst="rect">
            <a:avLst/>
          </a:prstGeom>
          <a:noFill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High-Fidelity 3D Hand Landmarks Enable Precise Spatial Alignment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1143000"/>
            <a:ext cx="814005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1355527"/>
            <a:ext cx="387905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0B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MediaPipe </a:t>
            </a: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 tracks 21 3D hand landmarks in real time, providing robust skeletal tracking from a standard RGB feed.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1869877"/>
            <a:ext cx="96186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POSITION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2082403"/>
            <a:ext cx="387905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centroid of key landmarks (wrist + finger bases) is calculated as the definitive "</a:t>
            </a:r>
            <a:r>
              <a:rPr lang="en-US" sz="9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location</a:t>
            </a: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 for spatial offset computation.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2596753"/>
            <a:ext cx="100046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GESTURE STATES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4388" y="2866430"/>
            <a:ext cx="618759" cy="1170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HAND: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534120" y="2866430"/>
            <a:ext cx="1284006" cy="1170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Reaching / Ready to grasp.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14388" y="3045023"/>
            <a:ext cx="623569" cy="1170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FIST: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575197" y="3045023"/>
            <a:ext cx="1506823" cy="1170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grabbed; task complete.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1500" y="3337917"/>
            <a:ext cx="123328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 ALIGNMENT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1500" y="3550444"/>
            <a:ext cx="387905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9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X-Y offset </a:t>
            </a: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the hand centroid and the object center drives the directional audio instructions.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1500" y="4064794"/>
            <a:ext cx="631135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1500" y="4277320"/>
            <a:ext cx="387905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Sub-centimeter accuracy enables fine-grained, highly responsive guidance as the hand approaches the target.</a:t>
            </a:r>
            <a:endParaRPr lang="en-US" sz="9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555" y="1017580"/>
            <a:ext cx="4415172" cy="153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一只手做出点赞手势，被模型识别为点赞手势，置信度为 63%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447" y="2595175"/>
            <a:ext cx="4072296" cy="228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69934" y="458887"/>
            <a:ext cx="8725603" cy="2699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915" b="1" dirty="0">
                <a:latin typeface="Playfair Display" pitchFamily="34" charset="0"/>
                <a:ea typeface="Quattrocento Sans" pitchFamily="34" charset="-122"/>
                <a:cs typeface="Quattrocento Sans" pitchFamily="34" charset="-120"/>
              </a:rPr>
              <a:t>Spatial </a:t>
            </a:r>
            <a:r>
              <a:rPr lang="en-US" b="1" dirty="0">
                <a:latin typeface="Playfair Display" pitchFamily="34" charset="0"/>
                <a:ea typeface="Quattrocento Sans" pitchFamily="34" charset="-122"/>
                <a:cs typeface="Quattrocento Sans" pitchFamily="34" charset="-120"/>
              </a:rPr>
              <a:t>Guidance</a:t>
            </a:r>
            <a:r>
              <a:rPr lang="en-US" sz="1915" b="1" dirty="0">
                <a:latin typeface="Playfair Display" pitchFamily="34" charset="0"/>
                <a:ea typeface="Quattrocento Sans" pitchFamily="34" charset="-122"/>
                <a:cs typeface="Quattrocento Sans" pitchFamily="34" charset="-120"/>
              </a:rPr>
              <a:t> and Control Logic</a:t>
            </a:r>
            <a:endParaRPr lang="en-US" sz="1200" dirty="0">
              <a:latin typeface="Playfair Display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3307" y="812458"/>
            <a:ext cx="4237958" cy="1680337"/>
          </a:xfrm>
          <a:custGeom>
            <a:avLst/>
            <a:gdLst/>
            <a:ahLst/>
            <a:cxnLst/>
            <a:rect l="l" t="t" r="r" b="b"/>
            <a:pathLst>
              <a:path w="5650610" h="2240449">
                <a:moveTo>
                  <a:pt x="71986" y="0"/>
                </a:moveTo>
                <a:lnTo>
                  <a:pt x="5578624" y="0"/>
                </a:lnTo>
                <a:cubicBezTo>
                  <a:pt x="5618354" y="0"/>
                  <a:pt x="5650610" y="32256"/>
                  <a:pt x="5650610" y="71986"/>
                </a:cubicBezTo>
                <a:lnTo>
                  <a:pt x="5650610" y="2168463"/>
                </a:lnTo>
                <a:cubicBezTo>
                  <a:pt x="5650610" y="2208193"/>
                  <a:pt x="5618354" y="2240449"/>
                  <a:pt x="5578624" y="2240449"/>
                </a:cubicBezTo>
                <a:lnTo>
                  <a:pt x="71986" y="2240449"/>
                </a:lnTo>
                <a:cubicBezTo>
                  <a:pt x="32256" y="2240449"/>
                  <a:pt x="0" y="2208193"/>
                  <a:pt x="0" y="2168463"/>
                </a:cubicBezTo>
                <a:lnTo>
                  <a:pt x="0" y="71986"/>
                </a:lnTo>
                <a:cubicBezTo>
                  <a:pt x="0" y="32256"/>
                  <a:pt x="32256" y="0"/>
                  <a:pt x="71986" y="0"/>
                </a:cubicBezTo>
                <a:close/>
              </a:path>
            </a:pathLst>
          </a:custGeom>
          <a:solidFill>
            <a:schemeClr val="accent5">
              <a:alpha val="5098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zh-CN" alt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28519" y="977793"/>
            <a:ext cx="134967" cy="134967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89978" y="179956"/>
                </a:moveTo>
                <a:cubicBezTo>
                  <a:pt x="139638" y="179956"/>
                  <a:pt x="179956" y="139638"/>
                  <a:pt x="179956" y="89978"/>
                </a:cubicBezTo>
                <a:cubicBezTo>
                  <a:pt x="179956" y="40318"/>
                  <a:pt x="139638" y="0"/>
                  <a:pt x="89978" y="0"/>
                </a:cubicBezTo>
                <a:cubicBezTo>
                  <a:pt x="40318" y="0"/>
                  <a:pt x="0" y="40318"/>
                  <a:pt x="0" y="89978"/>
                </a:cubicBezTo>
                <a:cubicBezTo>
                  <a:pt x="0" y="139638"/>
                  <a:pt x="40318" y="179956"/>
                  <a:pt x="89978" y="179956"/>
                </a:cubicBezTo>
                <a:close/>
                <a:moveTo>
                  <a:pt x="107798" y="114265"/>
                </a:moveTo>
                <a:lnTo>
                  <a:pt x="57080" y="133772"/>
                </a:lnTo>
                <a:cubicBezTo>
                  <a:pt x="50261" y="136408"/>
                  <a:pt x="43548" y="129695"/>
                  <a:pt x="46184" y="122876"/>
                </a:cubicBezTo>
                <a:lnTo>
                  <a:pt x="65691" y="72158"/>
                </a:lnTo>
                <a:cubicBezTo>
                  <a:pt x="66851" y="69170"/>
                  <a:pt x="69170" y="66851"/>
                  <a:pt x="72158" y="65691"/>
                </a:cubicBezTo>
                <a:lnTo>
                  <a:pt x="122876" y="46184"/>
                </a:lnTo>
                <a:cubicBezTo>
                  <a:pt x="129695" y="43548"/>
                  <a:pt x="136408" y="50261"/>
                  <a:pt x="133772" y="57080"/>
                </a:cubicBezTo>
                <a:lnTo>
                  <a:pt x="114265" y="107798"/>
                </a:lnTo>
                <a:cubicBezTo>
                  <a:pt x="113140" y="110785"/>
                  <a:pt x="110785" y="113105"/>
                  <a:pt x="107798" y="114265"/>
                </a:cubicBezTo>
                <a:close/>
                <a:moveTo>
                  <a:pt x="101225" y="89978"/>
                </a:moveTo>
                <a:cubicBezTo>
                  <a:pt x="101225" y="83770"/>
                  <a:pt x="96185" y="78731"/>
                  <a:pt x="89978" y="78731"/>
                </a:cubicBezTo>
                <a:cubicBezTo>
                  <a:pt x="83770" y="78731"/>
                  <a:pt x="78731" y="83770"/>
                  <a:pt x="78731" y="89978"/>
                </a:cubicBezTo>
                <a:cubicBezTo>
                  <a:pt x="78731" y="96185"/>
                  <a:pt x="83770" y="101225"/>
                  <a:pt x="89978" y="101225"/>
                </a:cubicBezTo>
                <a:cubicBezTo>
                  <a:pt x="96185" y="101225"/>
                  <a:pt x="101225" y="96185"/>
                  <a:pt x="101225" y="899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Text 4"/>
          <p:cNvSpPr/>
          <p:nvPr/>
        </p:nvSpPr>
        <p:spPr>
          <a:xfrm>
            <a:off x="594212" y="950799"/>
            <a:ext cx="3860051" cy="188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chemeClr val="accent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Guidance Controller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3307" y="2607517"/>
            <a:ext cx="4237958" cy="2503634"/>
          </a:xfrm>
          <a:custGeom>
            <a:avLst/>
            <a:gdLst/>
            <a:ahLst/>
            <a:cxnLst/>
            <a:rect l="l" t="t" r="r" b="b"/>
            <a:pathLst>
              <a:path w="5650610" h="3338179">
                <a:moveTo>
                  <a:pt x="71971" y="0"/>
                </a:moveTo>
                <a:lnTo>
                  <a:pt x="5578638" y="0"/>
                </a:lnTo>
                <a:cubicBezTo>
                  <a:pt x="5618387" y="0"/>
                  <a:pt x="5650610" y="32223"/>
                  <a:pt x="5650610" y="71971"/>
                </a:cubicBezTo>
                <a:lnTo>
                  <a:pt x="5650610" y="3266207"/>
                </a:lnTo>
                <a:cubicBezTo>
                  <a:pt x="5650610" y="3305956"/>
                  <a:pt x="5618387" y="3338179"/>
                  <a:pt x="5578638" y="3338179"/>
                </a:cubicBezTo>
                <a:lnTo>
                  <a:pt x="71971" y="3338179"/>
                </a:lnTo>
                <a:cubicBezTo>
                  <a:pt x="32223" y="3338179"/>
                  <a:pt x="0" y="3305956"/>
                  <a:pt x="0" y="3266207"/>
                </a:cubicBezTo>
                <a:lnTo>
                  <a:pt x="0" y="71971"/>
                </a:lnTo>
                <a:cubicBezTo>
                  <a:pt x="0" y="32249"/>
                  <a:pt x="32249" y="0"/>
                  <a:pt x="71971" y="0"/>
                </a:cubicBezTo>
                <a:close/>
              </a:path>
            </a:pathLst>
          </a:custGeom>
          <a:solidFill>
            <a:schemeClr val="accent5">
              <a:alpha val="5098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18" name="Shape 16"/>
          <p:cNvSpPr/>
          <p:nvPr/>
        </p:nvSpPr>
        <p:spPr>
          <a:xfrm>
            <a:off x="428519" y="2772851"/>
            <a:ext cx="134967" cy="134967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22494" y="33742"/>
                </a:moveTo>
                <a:cubicBezTo>
                  <a:pt x="22494" y="27521"/>
                  <a:pt x="27521" y="22494"/>
                  <a:pt x="33742" y="22494"/>
                </a:cubicBezTo>
                <a:lnTo>
                  <a:pt x="89978" y="22494"/>
                </a:lnTo>
                <a:cubicBezTo>
                  <a:pt x="96199" y="22494"/>
                  <a:pt x="101225" y="27521"/>
                  <a:pt x="101225" y="33742"/>
                </a:cubicBezTo>
                <a:lnTo>
                  <a:pt x="101225" y="134967"/>
                </a:lnTo>
                <a:lnTo>
                  <a:pt x="134967" y="134967"/>
                </a:lnTo>
                <a:lnTo>
                  <a:pt x="134967" y="89978"/>
                </a:lnTo>
                <a:cubicBezTo>
                  <a:pt x="134967" y="83757"/>
                  <a:pt x="139993" y="78731"/>
                  <a:pt x="146214" y="78731"/>
                </a:cubicBezTo>
                <a:lnTo>
                  <a:pt x="168708" y="78731"/>
                </a:lnTo>
                <a:cubicBezTo>
                  <a:pt x="174930" y="78731"/>
                  <a:pt x="179956" y="83757"/>
                  <a:pt x="179956" y="89978"/>
                </a:cubicBezTo>
                <a:cubicBezTo>
                  <a:pt x="179956" y="96199"/>
                  <a:pt x="174930" y="101225"/>
                  <a:pt x="168708" y="101225"/>
                </a:cubicBezTo>
                <a:lnTo>
                  <a:pt x="157461" y="101225"/>
                </a:lnTo>
                <a:lnTo>
                  <a:pt x="157461" y="146214"/>
                </a:lnTo>
                <a:cubicBezTo>
                  <a:pt x="157461" y="152435"/>
                  <a:pt x="152435" y="157461"/>
                  <a:pt x="146214" y="157461"/>
                </a:cubicBezTo>
                <a:lnTo>
                  <a:pt x="89978" y="157461"/>
                </a:lnTo>
                <a:cubicBezTo>
                  <a:pt x="83757" y="157461"/>
                  <a:pt x="78731" y="152435"/>
                  <a:pt x="78731" y="146214"/>
                </a:cubicBezTo>
                <a:lnTo>
                  <a:pt x="78731" y="44989"/>
                </a:lnTo>
                <a:lnTo>
                  <a:pt x="44989" y="44989"/>
                </a:lnTo>
                <a:lnTo>
                  <a:pt x="44989" y="89978"/>
                </a:lnTo>
                <a:cubicBezTo>
                  <a:pt x="44989" y="96199"/>
                  <a:pt x="39963" y="101225"/>
                  <a:pt x="33742" y="101225"/>
                </a:cubicBezTo>
                <a:lnTo>
                  <a:pt x="11247" y="101225"/>
                </a:lnTo>
                <a:cubicBezTo>
                  <a:pt x="5026" y="101225"/>
                  <a:pt x="0" y="96199"/>
                  <a:pt x="0" y="89978"/>
                </a:cubicBezTo>
                <a:cubicBezTo>
                  <a:pt x="0" y="83757"/>
                  <a:pt x="5026" y="78731"/>
                  <a:pt x="11247" y="78731"/>
                </a:cubicBezTo>
                <a:lnTo>
                  <a:pt x="22494" y="78731"/>
                </a:lnTo>
                <a:lnTo>
                  <a:pt x="22494" y="33742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19" name="Text 17"/>
          <p:cNvSpPr/>
          <p:nvPr/>
        </p:nvSpPr>
        <p:spPr>
          <a:xfrm>
            <a:off x="594212" y="2745857"/>
            <a:ext cx="3860051" cy="188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chemeClr val="accent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Hysteresis-Based Guidance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649" y="3042785"/>
            <a:ext cx="4015262" cy="3509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Prevents oscillation when hand is near alignment boundaries by implementing </a:t>
            </a:r>
            <a:r>
              <a:rPr lang="en-US" sz="8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directional hysteresis thresholds</a:t>
            </a: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5024" y="3505046"/>
            <a:ext cx="3954527" cy="1464390"/>
          </a:xfrm>
          <a:custGeom>
            <a:avLst/>
            <a:gdLst/>
            <a:ahLst/>
            <a:cxnLst/>
            <a:rect l="l" t="t" r="r" b="b"/>
            <a:pathLst>
              <a:path w="5272703" h="1952520">
                <a:moveTo>
                  <a:pt x="35985" y="0"/>
                </a:moveTo>
                <a:lnTo>
                  <a:pt x="5236718" y="0"/>
                </a:lnTo>
                <a:cubicBezTo>
                  <a:pt x="5256592" y="0"/>
                  <a:pt x="5272703" y="16111"/>
                  <a:pt x="5272703" y="35985"/>
                </a:cubicBezTo>
                <a:lnTo>
                  <a:pt x="5272703" y="1916535"/>
                </a:lnTo>
                <a:cubicBezTo>
                  <a:pt x="5272703" y="1936409"/>
                  <a:pt x="5256592" y="1952520"/>
                  <a:pt x="5236718" y="1952520"/>
                </a:cubicBezTo>
                <a:lnTo>
                  <a:pt x="35985" y="1952520"/>
                </a:lnTo>
                <a:cubicBezTo>
                  <a:pt x="16111" y="1952520"/>
                  <a:pt x="0" y="1936409"/>
                  <a:pt x="0" y="1916535"/>
                </a:cubicBezTo>
                <a:lnTo>
                  <a:pt x="0" y="35985"/>
                </a:lnTo>
                <a:cubicBezTo>
                  <a:pt x="0" y="16124"/>
                  <a:pt x="16124" y="0"/>
                  <a:pt x="35985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22" name="Text 20"/>
          <p:cNvSpPr/>
          <p:nvPr/>
        </p:nvSpPr>
        <p:spPr>
          <a:xfrm>
            <a:off x="526370" y="3616394"/>
            <a:ext cx="3785819" cy="161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Example: Horizontal Alignment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6370" y="3832341"/>
            <a:ext cx="830046" cy="161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Enter "left" zone: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9709" y="3832341"/>
            <a:ext cx="654589" cy="161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 &lt; -50px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6370" y="4048288"/>
            <a:ext cx="755814" cy="161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Exit "left" zone: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9709" y="4048288"/>
            <a:ext cx="654589" cy="161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 &gt; -30px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6370" y="4264235"/>
            <a:ext cx="890781" cy="161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Enter "right" zone: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26455" y="4264235"/>
            <a:ext cx="587105" cy="161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 &gt; 50px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6370" y="4480181"/>
            <a:ext cx="816549" cy="161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Exit "right" zone: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26455" y="4480181"/>
            <a:ext cx="587105" cy="161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 &lt; 30px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6370" y="4723121"/>
            <a:ext cx="3779070" cy="1349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5" dirty="0">
                <a:latin typeface="Liter" pitchFamily="34" charset="0"/>
                <a:ea typeface="Liter" pitchFamily="34" charset="-122"/>
                <a:cs typeface="Liter" pitchFamily="34" charset="-120"/>
              </a:rPr>
              <a:t>20px deadband prevents rapid instruction switching</a:t>
            </a:r>
            <a:endParaRPr lang="en-US" sz="1200" dirty="0"/>
          </a:p>
        </p:txBody>
      </p:sp>
      <p:sp>
        <p:nvSpPr>
          <p:cNvPr id="60" name="Shape 2"/>
          <p:cNvSpPr/>
          <p:nvPr/>
        </p:nvSpPr>
        <p:spPr>
          <a:xfrm>
            <a:off x="571500" y="290846"/>
            <a:ext cx="285750" cy="2857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2"/>
          <p:cNvSpPr/>
          <p:nvPr/>
        </p:nvSpPr>
        <p:spPr>
          <a:xfrm>
            <a:off x="4767703" y="840167"/>
            <a:ext cx="4102990" cy="4045631"/>
          </a:xfrm>
          <a:custGeom>
            <a:avLst/>
            <a:gdLst/>
            <a:ahLst/>
            <a:cxnLst/>
            <a:rect l="l" t="t" r="r" b="b"/>
            <a:pathLst>
              <a:path w="5650610" h="2240449">
                <a:moveTo>
                  <a:pt x="71986" y="0"/>
                </a:moveTo>
                <a:lnTo>
                  <a:pt x="5578624" y="0"/>
                </a:lnTo>
                <a:cubicBezTo>
                  <a:pt x="5618354" y="0"/>
                  <a:pt x="5650610" y="32256"/>
                  <a:pt x="5650610" y="71986"/>
                </a:cubicBezTo>
                <a:lnTo>
                  <a:pt x="5650610" y="2168463"/>
                </a:lnTo>
                <a:cubicBezTo>
                  <a:pt x="5650610" y="2208193"/>
                  <a:pt x="5618354" y="2240449"/>
                  <a:pt x="5578624" y="2240449"/>
                </a:cubicBezTo>
                <a:lnTo>
                  <a:pt x="71986" y="2240449"/>
                </a:lnTo>
                <a:cubicBezTo>
                  <a:pt x="32256" y="2240449"/>
                  <a:pt x="0" y="2208193"/>
                  <a:pt x="0" y="2168463"/>
                </a:cubicBezTo>
                <a:lnTo>
                  <a:pt x="0" y="71986"/>
                </a:lnTo>
                <a:cubicBezTo>
                  <a:pt x="0" y="32256"/>
                  <a:pt x="32256" y="0"/>
                  <a:pt x="71986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5098"/>
            </a:schemeClr>
          </a:solidFill>
          <a:ln w="12700">
            <a:solidFill>
              <a:srgbClr val="FFC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 sz="1350" dirty="0"/>
          </a:p>
        </p:txBody>
      </p:sp>
      <p:sp>
        <p:nvSpPr>
          <p:cNvPr id="63" name="文本框 62"/>
          <p:cNvSpPr txBox="1"/>
          <p:nvPr/>
        </p:nvSpPr>
        <p:spPr>
          <a:xfrm>
            <a:off x="4818315" y="938613"/>
            <a:ext cx="183186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dirty="0">
                <a:solidFill>
                  <a:schemeClr val="accent2"/>
                </a:solidFill>
                <a:latin typeface="Liter" pitchFamily="34" charset="0"/>
              </a:rPr>
              <a:t>DYNAMIC FRAME SKIPPING </a:t>
            </a:r>
            <a:endParaRPr lang="zh-CN" altLang="en-US" sz="1100" b="1" dirty="0">
              <a:solidFill>
                <a:schemeClr val="accent2"/>
              </a:solidFill>
              <a:latin typeface="Liter" pitchFamily="34" charset="0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"/>
          <a:srcRect b="2940"/>
          <a:stretch>
            <a:fillRect/>
          </a:stretch>
        </p:blipFill>
        <p:spPr>
          <a:xfrm>
            <a:off x="4840282" y="1686623"/>
            <a:ext cx="3957832" cy="787991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4818315" y="1373892"/>
            <a:ext cx="4102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HIGH-FREQUENCY (30 HZ): </a:t>
            </a:r>
            <a:r>
              <a:rPr lang="zh-CN" altLang="en-US" sz="1200" dirty="0"/>
              <a:t>HAND TRACKING (MediaPipe)</a:t>
            </a:r>
            <a:endParaRPr lang="zh-CN" altLang="en-US" sz="1200" dirty="0"/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315" y="3016324"/>
            <a:ext cx="3957832" cy="754749"/>
          </a:xfrm>
          <a:prstGeom prst="rect">
            <a:avLst/>
          </a:prstGeom>
        </p:spPr>
      </p:pic>
      <p:sp>
        <p:nvSpPr>
          <p:cNvPr id="69" name="文本框 68"/>
          <p:cNvSpPr txBox="1"/>
          <p:nvPr/>
        </p:nvSpPr>
        <p:spPr>
          <a:xfrm>
            <a:off x="4818315" y="2585983"/>
            <a:ext cx="4980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LOW-FREQUENCY (5 </a:t>
            </a:r>
            <a:r>
              <a:rPr lang="en-GB" altLang="zh-CN" sz="1200" dirty="0">
                <a:solidFill>
                  <a:schemeClr val="accent2"/>
                </a:solidFill>
              </a:rPr>
              <a:t>HZ): </a:t>
            </a:r>
            <a:r>
              <a:rPr lang="en-GB" altLang="zh-CN" sz="1200" dirty="0"/>
              <a:t>OBJECT</a:t>
            </a:r>
            <a:r>
              <a:rPr lang="zh-CN" altLang="en-US" sz="1200" dirty="0"/>
              <a:t> DETECTION (OWL-ViT/MiDaS)</a:t>
            </a:r>
            <a:endParaRPr lang="zh-CN" altLang="en-US" sz="1200" dirty="0"/>
          </a:p>
        </p:txBody>
      </p:sp>
      <p:sp>
        <p:nvSpPr>
          <p:cNvPr id="71" name="文本框 70"/>
          <p:cNvSpPr txBox="1"/>
          <p:nvPr/>
        </p:nvSpPr>
        <p:spPr>
          <a:xfrm>
            <a:off x="4861447" y="3943978"/>
            <a:ext cx="39146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000" dirty="0">
                <a:latin typeface="Liter" pitchFamily="34" charset="0"/>
              </a:rPr>
              <a:t>Intelligently skip LLM inference for object &amp; depth when motion is low,</a:t>
            </a:r>
            <a:r>
              <a:rPr lang="zh-CN" altLang="en-US" sz="1000" dirty="0">
                <a:latin typeface="Liter" pitchFamily="34" charset="0"/>
              </a:rPr>
              <a:t> maintaining high perceived smoothness on ordinary devices.</a:t>
            </a:r>
            <a:endParaRPr lang="zh-CN" altLang="en-US" sz="1000" dirty="0">
              <a:latin typeface="Liter" pitchFamily="34" charset="0"/>
            </a:endParaRPr>
          </a:p>
        </p:txBody>
      </p:sp>
      <p:sp>
        <p:nvSpPr>
          <p:cNvPr id="79" name="Text 5"/>
          <p:cNvSpPr/>
          <p:nvPr/>
        </p:nvSpPr>
        <p:spPr>
          <a:xfrm>
            <a:off x="411649" y="1234231"/>
            <a:ext cx="4015262" cy="3509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r>
              <a:rPr lang="en-US" sz="8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GuidanceController</a:t>
            </a: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 is the system's decision-making core, transforming raw detection data into actionable spatial instructions.</a:t>
            </a:r>
            <a:endParaRPr lang="en-US" sz="1200" dirty="0"/>
          </a:p>
        </p:txBody>
      </p:sp>
      <p:sp>
        <p:nvSpPr>
          <p:cNvPr id="80" name="Shape 6"/>
          <p:cNvSpPr/>
          <p:nvPr/>
        </p:nvSpPr>
        <p:spPr>
          <a:xfrm>
            <a:off x="425146" y="1720111"/>
            <a:ext cx="107974" cy="107974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63069" y="-703"/>
                </a:moveTo>
                <a:cubicBezTo>
                  <a:pt x="68636" y="-3908"/>
                  <a:pt x="75497" y="-3908"/>
                  <a:pt x="81064" y="-703"/>
                </a:cubicBezTo>
                <a:lnTo>
                  <a:pt x="130524" y="27837"/>
                </a:lnTo>
                <a:cubicBezTo>
                  <a:pt x="136092" y="31042"/>
                  <a:pt x="139522" y="37003"/>
                  <a:pt x="139522" y="43414"/>
                </a:cubicBezTo>
                <a:lnTo>
                  <a:pt x="139522" y="100494"/>
                </a:lnTo>
                <a:cubicBezTo>
                  <a:pt x="139522" y="106933"/>
                  <a:pt x="136092" y="112866"/>
                  <a:pt x="130524" y="116071"/>
                </a:cubicBezTo>
                <a:lnTo>
                  <a:pt x="81064" y="144668"/>
                </a:lnTo>
                <a:cubicBezTo>
                  <a:pt x="75497" y="147873"/>
                  <a:pt x="68636" y="147873"/>
                  <a:pt x="63069" y="144668"/>
                </a:cubicBezTo>
                <a:lnTo>
                  <a:pt x="13637" y="116128"/>
                </a:lnTo>
                <a:cubicBezTo>
                  <a:pt x="8070" y="112922"/>
                  <a:pt x="4639" y="106961"/>
                  <a:pt x="4639" y="100550"/>
                </a:cubicBezTo>
                <a:lnTo>
                  <a:pt x="4639" y="43471"/>
                </a:lnTo>
                <a:cubicBezTo>
                  <a:pt x="4639" y="37032"/>
                  <a:pt x="8070" y="31099"/>
                  <a:pt x="13637" y="27893"/>
                </a:cubicBezTo>
                <a:lnTo>
                  <a:pt x="63069" y="-703"/>
                </a:lnTo>
                <a:close/>
                <a:moveTo>
                  <a:pt x="121498" y="100522"/>
                </a:moveTo>
                <a:lnTo>
                  <a:pt x="121498" y="53818"/>
                </a:lnTo>
                <a:lnTo>
                  <a:pt x="81064" y="77156"/>
                </a:lnTo>
                <a:lnTo>
                  <a:pt x="81064" y="123860"/>
                </a:lnTo>
                <a:lnTo>
                  <a:pt x="121498" y="100522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81" name="Text 7"/>
          <p:cNvSpPr/>
          <p:nvPr/>
        </p:nvSpPr>
        <p:spPr>
          <a:xfrm>
            <a:off x="600602" y="1699866"/>
            <a:ext cx="342240" cy="148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Input:</a:t>
            </a:r>
            <a:endParaRPr lang="en-US" sz="1200" dirty="0"/>
          </a:p>
        </p:txBody>
      </p:sp>
      <p:sp>
        <p:nvSpPr>
          <p:cNvPr id="82" name="Text 8"/>
          <p:cNvSpPr/>
          <p:nvPr/>
        </p:nvSpPr>
        <p:spPr>
          <a:xfrm>
            <a:off x="910450" y="1699866"/>
            <a:ext cx="2024070" cy="148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Object bbox, depth value, hand landmarks</a:t>
            </a:r>
            <a:endParaRPr lang="en-US" sz="1200" dirty="0"/>
          </a:p>
        </p:txBody>
      </p:sp>
      <p:sp>
        <p:nvSpPr>
          <p:cNvPr id="83" name="Shape 9"/>
          <p:cNvSpPr/>
          <p:nvPr/>
        </p:nvSpPr>
        <p:spPr>
          <a:xfrm>
            <a:off x="411649" y="1963051"/>
            <a:ext cx="134967" cy="107974"/>
          </a:xfrm>
          <a:custGeom>
            <a:avLst/>
            <a:gdLst/>
            <a:ahLst/>
            <a:cxnLst/>
            <a:rect l="l" t="t" r="r" b="b"/>
            <a:pathLst>
              <a:path w="179956" h="143965">
                <a:moveTo>
                  <a:pt x="116943" y="59189"/>
                </a:moveTo>
                <a:cubicBezTo>
                  <a:pt x="120374" y="58261"/>
                  <a:pt x="123973" y="59892"/>
                  <a:pt x="125519" y="63069"/>
                </a:cubicBezTo>
                <a:lnTo>
                  <a:pt x="130749" y="73641"/>
                </a:lnTo>
                <a:cubicBezTo>
                  <a:pt x="133645" y="74035"/>
                  <a:pt x="136485" y="74822"/>
                  <a:pt x="139156" y="75919"/>
                </a:cubicBezTo>
                <a:lnTo>
                  <a:pt x="148998" y="69367"/>
                </a:lnTo>
                <a:cubicBezTo>
                  <a:pt x="151950" y="67399"/>
                  <a:pt x="155859" y="67793"/>
                  <a:pt x="158361" y="70295"/>
                </a:cubicBezTo>
                <a:lnTo>
                  <a:pt x="163760" y="75694"/>
                </a:lnTo>
                <a:cubicBezTo>
                  <a:pt x="166262" y="78196"/>
                  <a:pt x="166656" y="82133"/>
                  <a:pt x="164688" y="85057"/>
                </a:cubicBezTo>
                <a:lnTo>
                  <a:pt x="158136" y="94870"/>
                </a:lnTo>
                <a:cubicBezTo>
                  <a:pt x="158670" y="96192"/>
                  <a:pt x="159148" y="97570"/>
                  <a:pt x="159542" y="99004"/>
                </a:cubicBezTo>
                <a:cubicBezTo>
                  <a:pt x="159936" y="100438"/>
                  <a:pt x="160189" y="101844"/>
                  <a:pt x="160386" y="103278"/>
                </a:cubicBezTo>
                <a:lnTo>
                  <a:pt x="170986" y="108508"/>
                </a:lnTo>
                <a:cubicBezTo>
                  <a:pt x="174163" y="110082"/>
                  <a:pt x="175794" y="113681"/>
                  <a:pt x="174866" y="117084"/>
                </a:cubicBezTo>
                <a:lnTo>
                  <a:pt x="172898" y="124451"/>
                </a:lnTo>
                <a:cubicBezTo>
                  <a:pt x="171970" y="127853"/>
                  <a:pt x="168793" y="130159"/>
                  <a:pt x="165250" y="129934"/>
                </a:cubicBezTo>
                <a:lnTo>
                  <a:pt x="153440" y="129174"/>
                </a:lnTo>
                <a:cubicBezTo>
                  <a:pt x="151669" y="131452"/>
                  <a:pt x="149616" y="133561"/>
                  <a:pt x="147283" y="135360"/>
                </a:cubicBezTo>
                <a:lnTo>
                  <a:pt x="148042" y="147142"/>
                </a:lnTo>
                <a:cubicBezTo>
                  <a:pt x="148267" y="150685"/>
                  <a:pt x="145961" y="153890"/>
                  <a:pt x="142559" y="154790"/>
                </a:cubicBezTo>
                <a:lnTo>
                  <a:pt x="135192" y="156758"/>
                </a:lnTo>
                <a:cubicBezTo>
                  <a:pt x="131761" y="157686"/>
                  <a:pt x="128190" y="156055"/>
                  <a:pt x="126616" y="152878"/>
                </a:cubicBezTo>
                <a:lnTo>
                  <a:pt x="121386" y="142306"/>
                </a:lnTo>
                <a:cubicBezTo>
                  <a:pt x="118490" y="141912"/>
                  <a:pt x="115650" y="141125"/>
                  <a:pt x="112978" y="140028"/>
                </a:cubicBezTo>
                <a:lnTo>
                  <a:pt x="103137" y="146580"/>
                </a:lnTo>
                <a:cubicBezTo>
                  <a:pt x="100185" y="148548"/>
                  <a:pt x="96276" y="148154"/>
                  <a:pt x="93774" y="145652"/>
                </a:cubicBezTo>
                <a:lnTo>
                  <a:pt x="88375" y="140253"/>
                </a:lnTo>
                <a:cubicBezTo>
                  <a:pt x="85873" y="137750"/>
                  <a:pt x="85479" y="133842"/>
                  <a:pt x="87447" y="130890"/>
                </a:cubicBezTo>
                <a:lnTo>
                  <a:pt x="93999" y="121048"/>
                </a:lnTo>
                <a:cubicBezTo>
                  <a:pt x="93465" y="119727"/>
                  <a:pt x="92986" y="118349"/>
                  <a:pt x="92593" y="116915"/>
                </a:cubicBezTo>
                <a:cubicBezTo>
                  <a:pt x="92199" y="115481"/>
                  <a:pt x="91946" y="114047"/>
                  <a:pt x="91749" y="112641"/>
                </a:cubicBezTo>
                <a:lnTo>
                  <a:pt x="81149" y="107411"/>
                </a:lnTo>
                <a:cubicBezTo>
                  <a:pt x="77971" y="105836"/>
                  <a:pt x="76369" y="102237"/>
                  <a:pt x="77268" y="98835"/>
                </a:cubicBezTo>
                <a:lnTo>
                  <a:pt x="79237" y="91468"/>
                </a:lnTo>
                <a:cubicBezTo>
                  <a:pt x="80165" y="88066"/>
                  <a:pt x="83342" y="85760"/>
                  <a:pt x="86885" y="85985"/>
                </a:cubicBezTo>
                <a:lnTo>
                  <a:pt x="98666" y="86744"/>
                </a:lnTo>
                <a:cubicBezTo>
                  <a:pt x="100438" y="84467"/>
                  <a:pt x="102490" y="82358"/>
                  <a:pt x="104824" y="80558"/>
                </a:cubicBezTo>
                <a:lnTo>
                  <a:pt x="104065" y="68805"/>
                </a:lnTo>
                <a:cubicBezTo>
                  <a:pt x="103840" y="65262"/>
                  <a:pt x="106146" y="62057"/>
                  <a:pt x="109548" y="61157"/>
                </a:cubicBezTo>
                <a:lnTo>
                  <a:pt x="116915" y="59189"/>
                </a:lnTo>
                <a:close/>
                <a:moveTo>
                  <a:pt x="126081" y="95601"/>
                </a:moveTo>
                <a:cubicBezTo>
                  <a:pt x="119253" y="95609"/>
                  <a:pt x="113716" y="101159"/>
                  <a:pt x="113724" y="107987"/>
                </a:cubicBezTo>
                <a:cubicBezTo>
                  <a:pt x="113731" y="114816"/>
                  <a:pt x="119281" y="120353"/>
                  <a:pt x="126110" y="120345"/>
                </a:cubicBezTo>
                <a:cubicBezTo>
                  <a:pt x="132938" y="120338"/>
                  <a:pt x="138475" y="114788"/>
                  <a:pt x="138467" y="107959"/>
                </a:cubicBezTo>
                <a:cubicBezTo>
                  <a:pt x="138460" y="101131"/>
                  <a:pt x="132910" y="95594"/>
                  <a:pt x="126081" y="95601"/>
                </a:cubicBezTo>
                <a:close/>
                <a:moveTo>
                  <a:pt x="63238" y="-12794"/>
                </a:moveTo>
                <a:lnTo>
                  <a:pt x="70605" y="-10825"/>
                </a:lnTo>
                <a:cubicBezTo>
                  <a:pt x="74007" y="-9898"/>
                  <a:pt x="76312" y="-6692"/>
                  <a:pt x="76088" y="-3177"/>
                </a:cubicBezTo>
                <a:lnTo>
                  <a:pt x="75328" y="8576"/>
                </a:lnTo>
                <a:cubicBezTo>
                  <a:pt x="77662" y="10376"/>
                  <a:pt x="79715" y="12456"/>
                  <a:pt x="81486" y="14762"/>
                </a:cubicBezTo>
                <a:lnTo>
                  <a:pt x="93296" y="14003"/>
                </a:lnTo>
                <a:cubicBezTo>
                  <a:pt x="96811" y="13778"/>
                  <a:pt x="100016" y="16084"/>
                  <a:pt x="100944" y="19486"/>
                </a:cubicBezTo>
                <a:lnTo>
                  <a:pt x="102912" y="26853"/>
                </a:lnTo>
                <a:cubicBezTo>
                  <a:pt x="103812" y="30255"/>
                  <a:pt x="102209" y="33854"/>
                  <a:pt x="99032" y="35429"/>
                </a:cubicBezTo>
                <a:lnTo>
                  <a:pt x="88431" y="40659"/>
                </a:lnTo>
                <a:cubicBezTo>
                  <a:pt x="88235" y="42093"/>
                  <a:pt x="87953" y="43527"/>
                  <a:pt x="87588" y="44933"/>
                </a:cubicBezTo>
                <a:cubicBezTo>
                  <a:pt x="87222" y="46339"/>
                  <a:pt x="86716" y="47745"/>
                  <a:pt x="86182" y="49066"/>
                </a:cubicBezTo>
                <a:lnTo>
                  <a:pt x="92733" y="58907"/>
                </a:lnTo>
                <a:cubicBezTo>
                  <a:pt x="94702" y="61860"/>
                  <a:pt x="94308" y="65768"/>
                  <a:pt x="91806" y="68271"/>
                </a:cubicBezTo>
                <a:lnTo>
                  <a:pt x="86407" y="73669"/>
                </a:lnTo>
                <a:cubicBezTo>
                  <a:pt x="83904" y="76172"/>
                  <a:pt x="79996" y="76566"/>
                  <a:pt x="77044" y="74597"/>
                </a:cubicBezTo>
                <a:lnTo>
                  <a:pt x="67202" y="68046"/>
                </a:lnTo>
                <a:cubicBezTo>
                  <a:pt x="64531" y="69142"/>
                  <a:pt x="61691" y="69930"/>
                  <a:pt x="58795" y="70323"/>
                </a:cubicBezTo>
                <a:lnTo>
                  <a:pt x="53565" y="80896"/>
                </a:lnTo>
                <a:cubicBezTo>
                  <a:pt x="51990" y="84073"/>
                  <a:pt x="48391" y="85676"/>
                  <a:pt x="44989" y="84776"/>
                </a:cubicBezTo>
                <a:lnTo>
                  <a:pt x="37622" y="82808"/>
                </a:lnTo>
                <a:cubicBezTo>
                  <a:pt x="34192" y="81880"/>
                  <a:pt x="31914" y="78674"/>
                  <a:pt x="32139" y="75160"/>
                </a:cubicBezTo>
                <a:lnTo>
                  <a:pt x="32898" y="63378"/>
                </a:lnTo>
                <a:cubicBezTo>
                  <a:pt x="30564" y="61579"/>
                  <a:pt x="28512" y="59498"/>
                  <a:pt x="26740" y="57192"/>
                </a:cubicBezTo>
                <a:lnTo>
                  <a:pt x="14931" y="57951"/>
                </a:lnTo>
                <a:cubicBezTo>
                  <a:pt x="11416" y="58176"/>
                  <a:pt x="8210" y="55871"/>
                  <a:pt x="7283" y="52468"/>
                </a:cubicBezTo>
                <a:lnTo>
                  <a:pt x="5314" y="45101"/>
                </a:lnTo>
                <a:cubicBezTo>
                  <a:pt x="4415" y="41699"/>
                  <a:pt x="6017" y="38100"/>
                  <a:pt x="9195" y="36525"/>
                </a:cubicBezTo>
                <a:lnTo>
                  <a:pt x="19795" y="31295"/>
                </a:lnTo>
                <a:cubicBezTo>
                  <a:pt x="19992" y="29861"/>
                  <a:pt x="20273" y="28455"/>
                  <a:pt x="20639" y="27021"/>
                </a:cubicBezTo>
                <a:cubicBezTo>
                  <a:pt x="21032" y="25587"/>
                  <a:pt x="21482" y="24210"/>
                  <a:pt x="22045" y="22888"/>
                </a:cubicBezTo>
                <a:lnTo>
                  <a:pt x="15493" y="13075"/>
                </a:lnTo>
                <a:cubicBezTo>
                  <a:pt x="13525" y="10123"/>
                  <a:pt x="13918" y="6214"/>
                  <a:pt x="16421" y="3712"/>
                </a:cubicBezTo>
                <a:lnTo>
                  <a:pt x="21820" y="-1687"/>
                </a:lnTo>
                <a:cubicBezTo>
                  <a:pt x="24322" y="-4190"/>
                  <a:pt x="28231" y="-4583"/>
                  <a:pt x="31183" y="-2615"/>
                </a:cubicBezTo>
                <a:lnTo>
                  <a:pt x="41024" y="3937"/>
                </a:lnTo>
                <a:cubicBezTo>
                  <a:pt x="43695" y="2840"/>
                  <a:pt x="46535" y="2053"/>
                  <a:pt x="49432" y="1659"/>
                </a:cubicBezTo>
                <a:lnTo>
                  <a:pt x="54662" y="-8913"/>
                </a:lnTo>
                <a:cubicBezTo>
                  <a:pt x="56236" y="-12091"/>
                  <a:pt x="59807" y="-13694"/>
                  <a:pt x="63238" y="-12794"/>
                </a:cubicBezTo>
                <a:close/>
                <a:moveTo>
                  <a:pt x="54099" y="23619"/>
                </a:moveTo>
                <a:cubicBezTo>
                  <a:pt x="47271" y="23619"/>
                  <a:pt x="41727" y="29163"/>
                  <a:pt x="41727" y="35991"/>
                </a:cubicBezTo>
                <a:cubicBezTo>
                  <a:pt x="41727" y="42819"/>
                  <a:pt x="47271" y="48363"/>
                  <a:pt x="54099" y="48363"/>
                </a:cubicBezTo>
                <a:cubicBezTo>
                  <a:pt x="60927" y="48363"/>
                  <a:pt x="66471" y="42819"/>
                  <a:pt x="66471" y="35991"/>
                </a:cubicBezTo>
                <a:cubicBezTo>
                  <a:pt x="66471" y="29163"/>
                  <a:pt x="60927" y="23619"/>
                  <a:pt x="54099" y="2361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84" name="Text 10"/>
          <p:cNvSpPr/>
          <p:nvPr/>
        </p:nvSpPr>
        <p:spPr>
          <a:xfrm>
            <a:off x="600602" y="1942806"/>
            <a:ext cx="486444" cy="148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Process:</a:t>
            </a:r>
            <a:endParaRPr lang="en-US" sz="1200" dirty="0"/>
          </a:p>
        </p:txBody>
      </p:sp>
      <p:sp>
        <p:nvSpPr>
          <p:cNvPr id="85" name="Text 11"/>
          <p:cNvSpPr/>
          <p:nvPr/>
        </p:nvSpPr>
        <p:spPr>
          <a:xfrm>
            <a:off x="1054655" y="1942806"/>
            <a:ext cx="1498131" cy="148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Spatial relationship calculation</a:t>
            </a:r>
            <a:endParaRPr lang="en-US" sz="1200" dirty="0"/>
          </a:p>
        </p:txBody>
      </p:sp>
      <p:sp>
        <p:nvSpPr>
          <p:cNvPr id="86" name="Shape 12"/>
          <p:cNvSpPr/>
          <p:nvPr/>
        </p:nvSpPr>
        <p:spPr>
          <a:xfrm>
            <a:off x="425146" y="2205992"/>
            <a:ext cx="107974" cy="107974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129681" y="5314"/>
                </a:moveTo>
                <a:cubicBezTo>
                  <a:pt x="132914" y="6748"/>
                  <a:pt x="134967" y="9954"/>
                  <a:pt x="134967" y="13497"/>
                </a:cubicBezTo>
                <a:lnTo>
                  <a:pt x="134967" y="130468"/>
                </a:lnTo>
                <a:cubicBezTo>
                  <a:pt x="134967" y="134011"/>
                  <a:pt x="132914" y="137216"/>
                  <a:pt x="129681" y="138650"/>
                </a:cubicBezTo>
                <a:cubicBezTo>
                  <a:pt x="126447" y="140084"/>
                  <a:pt x="122707" y="139550"/>
                  <a:pt x="120036" y="137216"/>
                </a:cubicBezTo>
                <a:lnTo>
                  <a:pt x="106933" y="125772"/>
                </a:lnTo>
                <a:cubicBezTo>
                  <a:pt x="94674" y="115059"/>
                  <a:pt x="79181" y="108817"/>
                  <a:pt x="62956" y="108058"/>
                </a:cubicBezTo>
                <a:lnTo>
                  <a:pt x="62956" y="134967"/>
                </a:lnTo>
                <a:cubicBezTo>
                  <a:pt x="62956" y="139944"/>
                  <a:pt x="58935" y="143965"/>
                  <a:pt x="53959" y="143965"/>
                </a:cubicBezTo>
                <a:lnTo>
                  <a:pt x="44961" y="143965"/>
                </a:lnTo>
                <a:cubicBezTo>
                  <a:pt x="39984" y="143965"/>
                  <a:pt x="35963" y="139944"/>
                  <a:pt x="35963" y="134967"/>
                </a:cubicBezTo>
                <a:lnTo>
                  <a:pt x="35963" y="107973"/>
                </a:lnTo>
                <a:cubicBezTo>
                  <a:pt x="16112" y="107973"/>
                  <a:pt x="0" y="91862"/>
                  <a:pt x="0" y="71982"/>
                </a:cubicBezTo>
                <a:cubicBezTo>
                  <a:pt x="0" y="52103"/>
                  <a:pt x="16112" y="35991"/>
                  <a:pt x="35991" y="35991"/>
                </a:cubicBezTo>
                <a:lnTo>
                  <a:pt x="59751" y="35991"/>
                </a:lnTo>
                <a:cubicBezTo>
                  <a:pt x="77128" y="35935"/>
                  <a:pt x="93886" y="29608"/>
                  <a:pt x="106961" y="18192"/>
                </a:cubicBezTo>
                <a:lnTo>
                  <a:pt x="120064" y="6748"/>
                </a:lnTo>
                <a:cubicBezTo>
                  <a:pt x="122707" y="4415"/>
                  <a:pt x="126503" y="3880"/>
                  <a:pt x="129709" y="5314"/>
                </a:cubicBezTo>
                <a:close/>
                <a:moveTo>
                  <a:pt x="62985" y="89978"/>
                </a:moveTo>
                <a:lnTo>
                  <a:pt x="62985" y="90034"/>
                </a:lnTo>
                <a:cubicBezTo>
                  <a:pt x="82752" y="90793"/>
                  <a:pt x="101731" y="98048"/>
                  <a:pt x="116971" y="110673"/>
                </a:cubicBezTo>
                <a:lnTo>
                  <a:pt x="116971" y="33264"/>
                </a:lnTo>
                <a:cubicBezTo>
                  <a:pt x="101731" y="45889"/>
                  <a:pt x="82752" y="53143"/>
                  <a:pt x="62985" y="53902"/>
                </a:cubicBezTo>
                <a:lnTo>
                  <a:pt x="62985" y="8997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87" name="Text 13"/>
          <p:cNvSpPr/>
          <p:nvPr/>
        </p:nvSpPr>
        <p:spPr>
          <a:xfrm>
            <a:off x="600602" y="2185746"/>
            <a:ext cx="432698" cy="148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1200" dirty="0"/>
          </a:p>
        </p:txBody>
      </p:sp>
      <p:sp>
        <p:nvSpPr>
          <p:cNvPr id="88" name="Text 14"/>
          <p:cNvSpPr/>
          <p:nvPr/>
        </p:nvSpPr>
        <p:spPr>
          <a:xfrm>
            <a:off x="1000907" y="2185746"/>
            <a:ext cx="1444361" cy="148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instructions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69934" y="458887"/>
            <a:ext cx="8725603" cy="2699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915" b="1" dirty="0">
                <a:latin typeface="Playfair Display" pitchFamily="34" charset="0"/>
                <a:ea typeface="Quattrocento Sans" pitchFamily="34" charset="-122"/>
                <a:cs typeface="Quattrocento Sans" pitchFamily="34" charset="-120"/>
              </a:rPr>
              <a:t>Voice Interaction: ASR and TTS</a:t>
            </a:r>
            <a:endParaRPr lang="en-US" sz="1915" b="1" dirty="0">
              <a:latin typeface="Playfair Display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90000"/>
              </a:lnSpc>
            </a:pPr>
            <a:endParaRPr lang="en-US" sz="1200" dirty="0">
              <a:latin typeface="Playfair Display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3307" y="812458"/>
            <a:ext cx="4034909" cy="1680337"/>
          </a:xfrm>
          <a:custGeom>
            <a:avLst/>
            <a:gdLst/>
            <a:ahLst/>
            <a:cxnLst/>
            <a:rect l="l" t="t" r="r" b="b"/>
            <a:pathLst>
              <a:path w="5650610" h="2240449">
                <a:moveTo>
                  <a:pt x="71986" y="0"/>
                </a:moveTo>
                <a:lnTo>
                  <a:pt x="5578624" y="0"/>
                </a:lnTo>
                <a:cubicBezTo>
                  <a:pt x="5618354" y="0"/>
                  <a:pt x="5650610" y="32256"/>
                  <a:pt x="5650610" y="71986"/>
                </a:cubicBezTo>
                <a:lnTo>
                  <a:pt x="5650610" y="2168463"/>
                </a:lnTo>
                <a:cubicBezTo>
                  <a:pt x="5650610" y="2208193"/>
                  <a:pt x="5618354" y="2240449"/>
                  <a:pt x="5578624" y="2240449"/>
                </a:cubicBezTo>
                <a:lnTo>
                  <a:pt x="71986" y="2240449"/>
                </a:lnTo>
                <a:cubicBezTo>
                  <a:pt x="32256" y="2240449"/>
                  <a:pt x="0" y="2208193"/>
                  <a:pt x="0" y="2168463"/>
                </a:cubicBezTo>
                <a:lnTo>
                  <a:pt x="0" y="71986"/>
                </a:lnTo>
                <a:cubicBezTo>
                  <a:pt x="0" y="32256"/>
                  <a:pt x="32256" y="0"/>
                  <a:pt x="71986" y="0"/>
                </a:cubicBezTo>
                <a:close/>
              </a:path>
            </a:pathLst>
          </a:custGeom>
          <a:solidFill>
            <a:schemeClr val="accent5">
              <a:alpha val="5098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zh-CN" alt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4212" y="950799"/>
            <a:ext cx="3860051" cy="188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chemeClr val="accent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ASR: Automatic Speech Recognition</a:t>
            </a:r>
            <a:endParaRPr lang="en-US" sz="1100" b="1" dirty="0">
              <a:solidFill>
                <a:schemeClr val="accent1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3307" y="2862982"/>
            <a:ext cx="4034909" cy="2022816"/>
          </a:xfrm>
          <a:custGeom>
            <a:avLst/>
            <a:gdLst/>
            <a:ahLst/>
            <a:cxnLst/>
            <a:rect l="l" t="t" r="r" b="b"/>
            <a:pathLst>
              <a:path w="5650610" h="3338179">
                <a:moveTo>
                  <a:pt x="71971" y="0"/>
                </a:moveTo>
                <a:lnTo>
                  <a:pt x="5578638" y="0"/>
                </a:lnTo>
                <a:cubicBezTo>
                  <a:pt x="5618387" y="0"/>
                  <a:pt x="5650610" y="32223"/>
                  <a:pt x="5650610" y="71971"/>
                </a:cubicBezTo>
                <a:lnTo>
                  <a:pt x="5650610" y="3266207"/>
                </a:lnTo>
                <a:cubicBezTo>
                  <a:pt x="5650610" y="3305956"/>
                  <a:pt x="5618387" y="3338179"/>
                  <a:pt x="5578638" y="3338179"/>
                </a:cubicBezTo>
                <a:lnTo>
                  <a:pt x="71971" y="3338179"/>
                </a:lnTo>
                <a:cubicBezTo>
                  <a:pt x="32223" y="3338179"/>
                  <a:pt x="0" y="3305956"/>
                  <a:pt x="0" y="3266207"/>
                </a:cubicBezTo>
                <a:lnTo>
                  <a:pt x="0" y="71971"/>
                </a:lnTo>
                <a:cubicBezTo>
                  <a:pt x="0" y="32249"/>
                  <a:pt x="32249" y="0"/>
                  <a:pt x="71971" y="0"/>
                </a:cubicBezTo>
                <a:close/>
              </a:path>
            </a:pathLst>
          </a:custGeom>
          <a:solidFill>
            <a:schemeClr val="accent5">
              <a:alpha val="5098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19" name="Text 17"/>
          <p:cNvSpPr/>
          <p:nvPr/>
        </p:nvSpPr>
        <p:spPr>
          <a:xfrm>
            <a:off x="647600" y="3016836"/>
            <a:ext cx="3860051" cy="188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100" b="1" dirty="0">
                <a:solidFill>
                  <a:schemeClr val="accent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TTS: Text-to-Speech</a:t>
            </a:r>
            <a:endParaRPr lang="en-US" altLang="zh-CN" sz="1100" dirty="0">
              <a:solidFill>
                <a:schemeClr val="accent1"/>
              </a:solidFill>
            </a:endParaRPr>
          </a:p>
        </p:txBody>
      </p:sp>
      <p:sp>
        <p:nvSpPr>
          <p:cNvPr id="60" name="Shape 2"/>
          <p:cNvSpPr/>
          <p:nvPr/>
        </p:nvSpPr>
        <p:spPr>
          <a:xfrm>
            <a:off x="571500" y="290846"/>
            <a:ext cx="285750" cy="2857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2"/>
          <p:cNvSpPr/>
          <p:nvPr/>
        </p:nvSpPr>
        <p:spPr>
          <a:xfrm>
            <a:off x="4767703" y="812459"/>
            <a:ext cx="4102990" cy="4073340"/>
          </a:xfrm>
          <a:custGeom>
            <a:avLst/>
            <a:gdLst/>
            <a:ahLst/>
            <a:cxnLst/>
            <a:rect l="l" t="t" r="r" b="b"/>
            <a:pathLst>
              <a:path w="5650610" h="2240449">
                <a:moveTo>
                  <a:pt x="71986" y="0"/>
                </a:moveTo>
                <a:lnTo>
                  <a:pt x="5578624" y="0"/>
                </a:lnTo>
                <a:cubicBezTo>
                  <a:pt x="5618354" y="0"/>
                  <a:pt x="5650610" y="32256"/>
                  <a:pt x="5650610" y="71986"/>
                </a:cubicBezTo>
                <a:lnTo>
                  <a:pt x="5650610" y="2168463"/>
                </a:lnTo>
                <a:cubicBezTo>
                  <a:pt x="5650610" y="2208193"/>
                  <a:pt x="5618354" y="2240449"/>
                  <a:pt x="5578624" y="2240449"/>
                </a:cubicBezTo>
                <a:lnTo>
                  <a:pt x="71986" y="2240449"/>
                </a:lnTo>
                <a:cubicBezTo>
                  <a:pt x="32256" y="2240449"/>
                  <a:pt x="0" y="2208193"/>
                  <a:pt x="0" y="2168463"/>
                </a:cubicBezTo>
                <a:lnTo>
                  <a:pt x="0" y="71986"/>
                </a:lnTo>
                <a:cubicBezTo>
                  <a:pt x="0" y="32256"/>
                  <a:pt x="32256" y="0"/>
                  <a:pt x="71986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5098"/>
            </a:schemeClr>
          </a:solidFill>
          <a:ln w="12700">
            <a:solidFill>
              <a:srgbClr val="FFC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 sz="1350" dirty="0"/>
          </a:p>
        </p:txBody>
      </p:sp>
      <p:sp>
        <p:nvSpPr>
          <p:cNvPr id="63" name="文本框 62"/>
          <p:cNvSpPr txBox="1"/>
          <p:nvPr/>
        </p:nvSpPr>
        <p:spPr>
          <a:xfrm>
            <a:off x="4889172" y="854974"/>
            <a:ext cx="3660616" cy="28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b="1" dirty="0">
                <a:solidFill>
                  <a:schemeClr val="accent2"/>
                </a:solidFill>
                <a:latin typeface="Liter" pitchFamily="34" charset="0"/>
              </a:rPr>
              <a:t>High Light</a:t>
            </a:r>
            <a:r>
              <a:rPr lang="zh-CN" altLang="en-US" sz="1100" b="1" dirty="0">
                <a:solidFill>
                  <a:schemeClr val="accent2"/>
                </a:solidFill>
                <a:latin typeface="Liter" pitchFamily="34" charset="0"/>
              </a:rPr>
              <a:t>：</a:t>
            </a:r>
            <a:r>
              <a:rPr lang="en-US" altLang="zh-CN" sz="1100" b="1" dirty="0">
                <a:solidFill>
                  <a:schemeClr val="accent2"/>
                </a:solidFill>
                <a:latin typeface="Liter" pitchFamily="34" charset="0"/>
              </a:rPr>
              <a:t>LLM-Assisted Keyword Extraction</a:t>
            </a:r>
            <a:endParaRPr lang="zh-CN" altLang="en-US" sz="1100" b="1" dirty="0">
              <a:solidFill>
                <a:schemeClr val="accent2"/>
              </a:solidFill>
              <a:latin typeface="Liter" pitchFamily="34" charset="0"/>
            </a:endParaRPr>
          </a:p>
        </p:txBody>
      </p:sp>
      <p:sp>
        <p:nvSpPr>
          <p:cNvPr id="2" name="Shape 3"/>
          <p:cNvSpPr/>
          <p:nvPr/>
        </p:nvSpPr>
        <p:spPr>
          <a:xfrm>
            <a:off x="442424" y="987337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35719" y="35719"/>
                </a:moveTo>
                <a:cubicBezTo>
                  <a:pt x="35719" y="15999"/>
                  <a:pt x="51718" y="0"/>
                  <a:pt x="71438" y="0"/>
                </a:cubicBezTo>
                <a:cubicBezTo>
                  <a:pt x="90153" y="0"/>
                  <a:pt x="105519" y="14399"/>
                  <a:pt x="107045" y="32742"/>
                </a:cubicBezTo>
                <a:lnTo>
                  <a:pt x="86320" y="32742"/>
                </a:lnTo>
                <a:cubicBezTo>
                  <a:pt x="81372" y="32742"/>
                  <a:pt x="77391" y="36723"/>
                  <a:pt x="77391" y="41672"/>
                </a:cubicBezTo>
                <a:cubicBezTo>
                  <a:pt x="77391" y="46620"/>
                  <a:pt x="81372" y="50602"/>
                  <a:pt x="86320" y="50602"/>
                </a:cubicBezTo>
                <a:lnTo>
                  <a:pt x="107156" y="50602"/>
                </a:lnTo>
                <a:lnTo>
                  <a:pt x="107156" y="68461"/>
                </a:lnTo>
                <a:lnTo>
                  <a:pt x="86320" y="68461"/>
                </a:lnTo>
                <a:cubicBezTo>
                  <a:pt x="81372" y="68461"/>
                  <a:pt x="77391" y="72442"/>
                  <a:pt x="77391" y="77391"/>
                </a:cubicBezTo>
                <a:cubicBezTo>
                  <a:pt x="77391" y="82339"/>
                  <a:pt x="81372" y="86320"/>
                  <a:pt x="86320" y="86320"/>
                </a:cubicBezTo>
                <a:lnTo>
                  <a:pt x="107045" y="86320"/>
                </a:lnTo>
                <a:cubicBezTo>
                  <a:pt x="105519" y="104663"/>
                  <a:pt x="90190" y="119063"/>
                  <a:pt x="71438" y="119063"/>
                </a:cubicBezTo>
                <a:cubicBezTo>
                  <a:pt x="51718" y="119063"/>
                  <a:pt x="35719" y="103063"/>
                  <a:pt x="35719" y="83344"/>
                </a:cubicBezTo>
                <a:lnTo>
                  <a:pt x="35719" y="35719"/>
                </a:lnTo>
                <a:close/>
                <a:moveTo>
                  <a:pt x="8930" y="59531"/>
                </a:moveTo>
                <a:cubicBezTo>
                  <a:pt x="13878" y="59531"/>
                  <a:pt x="17859" y="63512"/>
                  <a:pt x="17859" y="68461"/>
                </a:cubicBezTo>
                <a:lnTo>
                  <a:pt x="17859" y="83344"/>
                </a:lnTo>
                <a:cubicBezTo>
                  <a:pt x="17859" y="112923"/>
                  <a:pt x="41858" y="136922"/>
                  <a:pt x="71438" y="136922"/>
                </a:cubicBezTo>
                <a:cubicBezTo>
                  <a:pt x="101017" y="136922"/>
                  <a:pt x="125016" y="112923"/>
                  <a:pt x="125016" y="83344"/>
                </a:cubicBezTo>
                <a:lnTo>
                  <a:pt x="125016" y="68461"/>
                </a:lnTo>
                <a:cubicBezTo>
                  <a:pt x="125016" y="63512"/>
                  <a:pt x="128997" y="59531"/>
                  <a:pt x="133945" y="59531"/>
                </a:cubicBezTo>
                <a:cubicBezTo>
                  <a:pt x="138894" y="59531"/>
                  <a:pt x="142875" y="63512"/>
                  <a:pt x="142875" y="68461"/>
                </a:cubicBezTo>
                <a:lnTo>
                  <a:pt x="142875" y="83344"/>
                </a:lnTo>
                <a:cubicBezTo>
                  <a:pt x="142875" y="119769"/>
                  <a:pt x="115602" y="149833"/>
                  <a:pt x="80367" y="154223"/>
                </a:cubicBezTo>
                <a:lnTo>
                  <a:pt x="80367" y="172641"/>
                </a:lnTo>
                <a:lnTo>
                  <a:pt x="98227" y="172641"/>
                </a:lnTo>
                <a:cubicBezTo>
                  <a:pt x="103175" y="172641"/>
                  <a:pt x="107156" y="176622"/>
                  <a:pt x="107156" y="181570"/>
                </a:cubicBezTo>
                <a:cubicBezTo>
                  <a:pt x="107156" y="186519"/>
                  <a:pt x="103175" y="190500"/>
                  <a:pt x="98227" y="190500"/>
                </a:cubicBezTo>
                <a:lnTo>
                  <a:pt x="44648" y="190500"/>
                </a:lnTo>
                <a:cubicBezTo>
                  <a:pt x="39700" y="190500"/>
                  <a:pt x="35719" y="186519"/>
                  <a:pt x="35719" y="181570"/>
                </a:cubicBezTo>
                <a:cubicBezTo>
                  <a:pt x="35719" y="176622"/>
                  <a:pt x="39700" y="172641"/>
                  <a:pt x="44648" y="172641"/>
                </a:cubicBezTo>
                <a:lnTo>
                  <a:pt x="62508" y="172641"/>
                </a:lnTo>
                <a:lnTo>
                  <a:pt x="62508" y="154223"/>
                </a:lnTo>
                <a:cubicBezTo>
                  <a:pt x="27273" y="149833"/>
                  <a:pt x="0" y="119769"/>
                  <a:pt x="0" y="83344"/>
                </a:cubicBezTo>
                <a:lnTo>
                  <a:pt x="0" y="68461"/>
                </a:lnTo>
                <a:cubicBezTo>
                  <a:pt x="0" y="63512"/>
                  <a:pt x="3981" y="59531"/>
                  <a:pt x="8930" y="5953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32" name="Shape 28"/>
          <p:cNvSpPr/>
          <p:nvPr/>
        </p:nvSpPr>
        <p:spPr>
          <a:xfrm>
            <a:off x="415024" y="3045493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98537" y="12092"/>
                </a:moveTo>
                <a:cubicBezTo>
                  <a:pt x="194704" y="8967"/>
                  <a:pt x="189086" y="9562"/>
                  <a:pt x="185961" y="13395"/>
                </a:cubicBezTo>
                <a:cubicBezTo>
                  <a:pt x="182835" y="17227"/>
                  <a:pt x="183431" y="22845"/>
                  <a:pt x="187263" y="25971"/>
                </a:cubicBezTo>
                <a:cubicBezTo>
                  <a:pt x="207429" y="42342"/>
                  <a:pt x="220266" y="67270"/>
                  <a:pt x="220266" y="95250"/>
                </a:cubicBezTo>
                <a:cubicBezTo>
                  <a:pt x="220266" y="123230"/>
                  <a:pt x="207429" y="148158"/>
                  <a:pt x="187263" y="164567"/>
                </a:cubicBezTo>
                <a:cubicBezTo>
                  <a:pt x="183431" y="167692"/>
                  <a:pt x="182873" y="173310"/>
                  <a:pt x="185961" y="177143"/>
                </a:cubicBezTo>
                <a:cubicBezTo>
                  <a:pt x="189049" y="180975"/>
                  <a:pt x="194704" y="181533"/>
                  <a:pt x="198537" y="178445"/>
                </a:cubicBezTo>
                <a:cubicBezTo>
                  <a:pt x="222684" y="158762"/>
                  <a:pt x="238125" y="128811"/>
                  <a:pt x="238125" y="95250"/>
                </a:cubicBezTo>
                <a:cubicBezTo>
                  <a:pt x="238125" y="61689"/>
                  <a:pt x="222684" y="31700"/>
                  <a:pt x="198537" y="12092"/>
                </a:cubicBezTo>
                <a:close/>
                <a:moveTo>
                  <a:pt x="176026" y="39812"/>
                </a:moveTo>
                <a:cubicBezTo>
                  <a:pt x="172194" y="36686"/>
                  <a:pt x="166576" y="37281"/>
                  <a:pt x="163450" y="41114"/>
                </a:cubicBezTo>
                <a:cubicBezTo>
                  <a:pt x="160325" y="44946"/>
                  <a:pt x="160920" y="50564"/>
                  <a:pt x="164753" y="53690"/>
                </a:cubicBezTo>
                <a:cubicBezTo>
                  <a:pt x="176845" y="63512"/>
                  <a:pt x="184547" y="78470"/>
                  <a:pt x="184547" y="95250"/>
                </a:cubicBezTo>
                <a:cubicBezTo>
                  <a:pt x="184547" y="112030"/>
                  <a:pt x="176845" y="126988"/>
                  <a:pt x="164753" y="136847"/>
                </a:cubicBezTo>
                <a:cubicBezTo>
                  <a:pt x="160920" y="139973"/>
                  <a:pt x="160362" y="145591"/>
                  <a:pt x="163450" y="149423"/>
                </a:cubicBezTo>
                <a:cubicBezTo>
                  <a:pt x="166539" y="153256"/>
                  <a:pt x="172194" y="153814"/>
                  <a:pt x="176026" y="150726"/>
                </a:cubicBezTo>
                <a:cubicBezTo>
                  <a:pt x="192100" y="137629"/>
                  <a:pt x="202406" y="117649"/>
                  <a:pt x="202406" y="95287"/>
                </a:cubicBezTo>
                <a:cubicBezTo>
                  <a:pt x="202406" y="72926"/>
                  <a:pt x="192100" y="52946"/>
                  <a:pt x="176026" y="39849"/>
                </a:cubicBezTo>
                <a:close/>
                <a:moveTo>
                  <a:pt x="153516" y="67531"/>
                </a:moveTo>
                <a:cubicBezTo>
                  <a:pt x="149684" y="64405"/>
                  <a:pt x="144066" y="65001"/>
                  <a:pt x="140940" y="68833"/>
                </a:cubicBezTo>
                <a:cubicBezTo>
                  <a:pt x="137815" y="72665"/>
                  <a:pt x="138410" y="78284"/>
                  <a:pt x="142242" y="81409"/>
                </a:cubicBezTo>
                <a:cubicBezTo>
                  <a:pt x="146261" y="84683"/>
                  <a:pt x="148828" y="89669"/>
                  <a:pt x="148828" y="95250"/>
                </a:cubicBezTo>
                <a:cubicBezTo>
                  <a:pt x="148828" y="100831"/>
                  <a:pt x="146261" y="105817"/>
                  <a:pt x="142242" y="109128"/>
                </a:cubicBezTo>
                <a:cubicBezTo>
                  <a:pt x="138410" y="112254"/>
                  <a:pt x="137852" y="117872"/>
                  <a:pt x="140940" y="121704"/>
                </a:cubicBezTo>
                <a:cubicBezTo>
                  <a:pt x="144028" y="125537"/>
                  <a:pt x="149684" y="126095"/>
                  <a:pt x="153516" y="123006"/>
                </a:cubicBezTo>
                <a:cubicBezTo>
                  <a:pt x="161516" y="116421"/>
                  <a:pt x="166688" y="106449"/>
                  <a:pt x="166688" y="95250"/>
                </a:cubicBezTo>
                <a:cubicBezTo>
                  <a:pt x="166688" y="84051"/>
                  <a:pt x="161516" y="74079"/>
                  <a:pt x="153516" y="67531"/>
                </a:cubicBezTo>
                <a:close/>
                <a:moveTo>
                  <a:pt x="29766" y="130969"/>
                </a:moveTo>
                <a:lnTo>
                  <a:pt x="47625" y="130969"/>
                </a:lnTo>
                <a:lnTo>
                  <a:pt x="97520" y="175320"/>
                </a:lnTo>
                <a:cubicBezTo>
                  <a:pt x="99901" y="177440"/>
                  <a:pt x="102952" y="178594"/>
                  <a:pt x="106114" y="178594"/>
                </a:cubicBezTo>
                <a:cubicBezTo>
                  <a:pt x="113258" y="178594"/>
                  <a:pt x="119063" y="172789"/>
                  <a:pt x="119063" y="165646"/>
                </a:cubicBezTo>
                <a:lnTo>
                  <a:pt x="119063" y="24854"/>
                </a:lnTo>
                <a:cubicBezTo>
                  <a:pt x="119063" y="17711"/>
                  <a:pt x="113258" y="11906"/>
                  <a:pt x="106114" y="11906"/>
                </a:cubicBezTo>
                <a:cubicBezTo>
                  <a:pt x="102952" y="11906"/>
                  <a:pt x="99901" y="13060"/>
                  <a:pt x="97520" y="15180"/>
                </a:cubicBezTo>
                <a:lnTo>
                  <a:pt x="47625" y="59531"/>
                </a:lnTo>
                <a:lnTo>
                  <a:pt x="29766" y="59531"/>
                </a:lnTo>
                <a:cubicBezTo>
                  <a:pt x="19906" y="59531"/>
                  <a:pt x="11906" y="67531"/>
                  <a:pt x="11906" y="77391"/>
                </a:cubicBezTo>
                <a:lnTo>
                  <a:pt x="11906" y="113109"/>
                </a:lnTo>
                <a:cubicBezTo>
                  <a:pt x="11906" y="122969"/>
                  <a:pt x="19906" y="130969"/>
                  <a:pt x="29766" y="13096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34" name="Text 5"/>
          <p:cNvSpPr/>
          <p:nvPr/>
        </p:nvSpPr>
        <p:spPr>
          <a:xfrm>
            <a:off x="571500" y="1588743"/>
            <a:ext cx="2990368" cy="195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Engine:</a:t>
            </a:r>
            <a:endParaRPr lang="en-US" sz="1000" b="1" dirty="0"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8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OpenAI Whisper</a:t>
            </a:r>
            <a:r>
              <a:rPr lang="en-US" sz="850" dirty="0">
                <a:latin typeface="Liter" pitchFamily="34" charset="0"/>
                <a:ea typeface="Liter" pitchFamily="34" charset="-122"/>
                <a:cs typeface="Liter" pitchFamily="34" charset="-120"/>
              </a:rPr>
              <a:t> (local execution)</a:t>
            </a:r>
            <a:endParaRPr lang="en-US" sz="850" dirty="0"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9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Language:</a:t>
            </a:r>
            <a:endParaRPr lang="en-US" sz="900" b="1" dirty="0"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40000"/>
              </a:lnSpc>
            </a:pPr>
            <a:endParaRPr lang="en-US" sz="850" dirty="0"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40000"/>
              </a:lnSpc>
            </a:pPr>
            <a:endParaRPr lang="en-US" sz="1200" dirty="0"/>
          </a:p>
        </p:txBody>
      </p:sp>
      <p:sp>
        <p:nvSpPr>
          <p:cNvPr id="35" name="Shape 9"/>
          <p:cNvSpPr/>
          <p:nvPr/>
        </p:nvSpPr>
        <p:spPr>
          <a:xfrm>
            <a:off x="571500" y="1799717"/>
            <a:ext cx="728663" cy="200025"/>
          </a:xfrm>
          <a:custGeom>
            <a:avLst/>
            <a:gdLst/>
            <a:ahLst/>
            <a:cxnLst/>
            <a:rect l="l" t="t" r="r" b="b"/>
            <a:pathLst>
              <a:path w="971550" h="266700">
                <a:moveTo>
                  <a:pt x="38101" y="0"/>
                </a:moveTo>
                <a:lnTo>
                  <a:pt x="933449" y="0"/>
                </a:lnTo>
                <a:cubicBezTo>
                  <a:pt x="954492" y="0"/>
                  <a:pt x="971550" y="17058"/>
                  <a:pt x="971550" y="38101"/>
                </a:cubicBezTo>
                <a:lnTo>
                  <a:pt x="971550" y="228599"/>
                </a:lnTo>
                <a:cubicBezTo>
                  <a:pt x="971550" y="249642"/>
                  <a:pt x="954492" y="266700"/>
                  <a:pt x="9334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36" name="Text 10"/>
          <p:cNvSpPr/>
          <p:nvPr/>
        </p:nvSpPr>
        <p:spPr>
          <a:xfrm>
            <a:off x="571500" y="1799717"/>
            <a:ext cx="778669" cy="200025"/>
          </a:xfrm>
          <a:prstGeom prst="rect">
            <a:avLst/>
          </a:prstGeom>
          <a:noFill/>
        </p:spPr>
        <p:txBody>
          <a:bodyPr wrap="square" lIns="85725" tIns="28575" rIns="85725" bIns="28575" rtlCol="0" anchor="ctr"/>
          <a:lstStyle/>
          <a:p>
            <a:pPr>
              <a:lnSpc>
                <a:spcPct val="120000"/>
              </a:lnSpc>
            </a:pPr>
            <a:r>
              <a:rPr lang="en-US" sz="790" dirty="0">
                <a:latin typeface="Liter" pitchFamily="34" charset="0"/>
                <a:ea typeface="Liter" pitchFamily="34" charset="-122"/>
                <a:cs typeface="Liter" pitchFamily="34" charset="-120"/>
              </a:rPr>
              <a:t>Chinese (zh)</a:t>
            </a:r>
            <a:endParaRPr lang="en-US" sz="1200" dirty="0"/>
          </a:p>
        </p:txBody>
      </p:sp>
      <p:sp>
        <p:nvSpPr>
          <p:cNvPr id="37" name="Shape 11"/>
          <p:cNvSpPr/>
          <p:nvPr/>
        </p:nvSpPr>
        <p:spPr>
          <a:xfrm>
            <a:off x="1356642" y="1799717"/>
            <a:ext cx="700088" cy="200025"/>
          </a:xfrm>
          <a:custGeom>
            <a:avLst/>
            <a:gdLst/>
            <a:ahLst/>
            <a:cxnLst/>
            <a:rect l="l" t="t" r="r" b="b"/>
            <a:pathLst>
              <a:path w="933450" h="266700">
                <a:moveTo>
                  <a:pt x="38101" y="0"/>
                </a:moveTo>
                <a:lnTo>
                  <a:pt x="895349" y="0"/>
                </a:lnTo>
                <a:cubicBezTo>
                  <a:pt x="916392" y="0"/>
                  <a:pt x="933450" y="17058"/>
                  <a:pt x="933450" y="38101"/>
                </a:cubicBezTo>
                <a:lnTo>
                  <a:pt x="933450" y="228599"/>
                </a:lnTo>
                <a:cubicBezTo>
                  <a:pt x="933450" y="249642"/>
                  <a:pt x="916392" y="266700"/>
                  <a:pt x="895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38" name="Text 12"/>
          <p:cNvSpPr/>
          <p:nvPr/>
        </p:nvSpPr>
        <p:spPr>
          <a:xfrm>
            <a:off x="1356643" y="1799717"/>
            <a:ext cx="750094" cy="200025"/>
          </a:xfrm>
          <a:prstGeom prst="rect">
            <a:avLst/>
          </a:prstGeom>
          <a:noFill/>
        </p:spPr>
        <p:txBody>
          <a:bodyPr wrap="square" lIns="85725" tIns="28575" rIns="85725" bIns="28575" rtlCol="0" anchor="ctr"/>
          <a:lstStyle/>
          <a:p>
            <a:pPr>
              <a:lnSpc>
                <a:spcPct val="120000"/>
              </a:lnSpc>
            </a:pPr>
            <a:r>
              <a:rPr lang="en-US" sz="790" dirty="0">
                <a:latin typeface="Liter" pitchFamily="34" charset="0"/>
                <a:ea typeface="Liter" pitchFamily="34" charset="-122"/>
                <a:cs typeface="Liter" pitchFamily="34" charset="-120"/>
              </a:rPr>
              <a:t>English (en)</a:t>
            </a:r>
            <a:endParaRPr lang="en-US" sz="1200" dirty="0"/>
          </a:p>
        </p:txBody>
      </p:sp>
      <p:sp>
        <p:nvSpPr>
          <p:cNvPr id="39" name="Shape 24"/>
          <p:cNvSpPr/>
          <p:nvPr/>
        </p:nvSpPr>
        <p:spPr>
          <a:xfrm>
            <a:off x="526371" y="2089106"/>
            <a:ext cx="3740814" cy="314325"/>
          </a:xfrm>
          <a:custGeom>
            <a:avLst/>
            <a:gdLst/>
            <a:ahLst/>
            <a:cxnLst/>
            <a:rect l="l" t="t" r="r" b="b"/>
            <a:pathLst>
              <a:path w="5238750" h="419100">
                <a:moveTo>
                  <a:pt x="38100" y="0"/>
                </a:moveTo>
                <a:lnTo>
                  <a:pt x="5200650" y="0"/>
                </a:lnTo>
                <a:cubicBezTo>
                  <a:pt x="5221692" y="0"/>
                  <a:pt x="5238750" y="17058"/>
                  <a:pt x="5238750" y="38100"/>
                </a:cubicBezTo>
                <a:lnTo>
                  <a:pt x="5238750" y="381000"/>
                </a:lnTo>
                <a:cubicBezTo>
                  <a:pt x="5238750" y="402042"/>
                  <a:pt x="5221692" y="419100"/>
                  <a:pt x="52006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accent1">
              <a:alpha val="10196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40" name="Shape 25"/>
          <p:cNvSpPr/>
          <p:nvPr/>
        </p:nvSpPr>
        <p:spPr>
          <a:xfrm>
            <a:off x="620132" y="2196262"/>
            <a:ext cx="112514" cy="100013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33350" y="116681"/>
                </a:lnTo>
                <a:cubicBezTo>
                  <a:pt x="142544" y="116681"/>
                  <a:pt x="150019" y="109206"/>
                  <a:pt x="150019" y="100013"/>
                </a:cubicBezTo>
                <a:lnTo>
                  <a:pt x="150019" y="33337"/>
                </a:lnTo>
                <a:cubicBezTo>
                  <a:pt x="150019" y="24144"/>
                  <a:pt x="142544" y="16669"/>
                  <a:pt x="133350" y="16669"/>
                </a:cubicBezTo>
                <a:lnTo>
                  <a:pt x="16669" y="16669"/>
                </a:lnTo>
                <a:close/>
                <a:moveTo>
                  <a:pt x="20836" y="33337"/>
                </a:moveTo>
                <a:lnTo>
                  <a:pt x="29170" y="33337"/>
                </a:lnTo>
                <a:cubicBezTo>
                  <a:pt x="31462" y="33337"/>
                  <a:pt x="33337" y="35213"/>
                  <a:pt x="33337" y="37505"/>
                </a:cubicBezTo>
                <a:lnTo>
                  <a:pt x="33337" y="45839"/>
                </a:lnTo>
                <a:cubicBezTo>
                  <a:pt x="33337" y="48131"/>
                  <a:pt x="31462" y="50006"/>
                  <a:pt x="29170" y="50006"/>
                </a:cubicBezTo>
                <a:lnTo>
                  <a:pt x="20836" y="50006"/>
                </a:lnTo>
                <a:cubicBezTo>
                  <a:pt x="18544" y="50006"/>
                  <a:pt x="16669" y="48131"/>
                  <a:pt x="16669" y="45839"/>
                </a:cubicBezTo>
                <a:lnTo>
                  <a:pt x="16669" y="37505"/>
                </a:lnTo>
                <a:cubicBezTo>
                  <a:pt x="16669" y="35213"/>
                  <a:pt x="18544" y="33337"/>
                  <a:pt x="20836" y="33337"/>
                </a:cubicBezTo>
                <a:close/>
                <a:moveTo>
                  <a:pt x="16669" y="62508"/>
                </a:moveTo>
                <a:cubicBezTo>
                  <a:pt x="16669" y="60216"/>
                  <a:pt x="18544" y="58341"/>
                  <a:pt x="20836" y="58341"/>
                </a:cubicBezTo>
                <a:lnTo>
                  <a:pt x="29170" y="58341"/>
                </a:lnTo>
                <a:cubicBezTo>
                  <a:pt x="31462" y="58341"/>
                  <a:pt x="33337" y="60216"/>
                  <a:pt x="33337" y="62508"/>
                </a:cubicBezTo>
                <a:lnTo>
                  <a:pt x="33337" y="70842"/>
                </a:lnTo>
                <a:cubicBezTo>
                  <a:pt x="33337" y="73134"/>
                  <a:pt x="31462" y="75009"/>
                  <a:pt x="29170" y="75009"/>
                </a:cubicBezTo>
                <a:lnTo>
                  <a:pt x="20836" y="75009"/>
                </a:lnTo>
                <a:cubicBezTo>
                  <a:pt x="18544" y="75009"/>
                  <a:pt x="16669" y="73134"/>
                  <a:pt x="16669" y="70842"/>
                </a:cubicBezTo>
                <a:lnTo>
                  <a:pt x="16669" y="62508"/>
                </a:lnTo>
                <a:close/>
                <a:moveTo>
                  <a:pt x="45839" y="33337"/>
                </a:moveTo>
                <a:lnTo>
                  <a:pt x="54173" y="33337"/>
                </a:lnTo>
                <a:cubicBezTo>
                  <a:pt x="56465" y="33337"/>
                  <a:pt x="58341" y="35213"/>
                  <a:pt x="58341" y="37505"/>
                </a:cubicBezTo>
                <a:lnTo>
                  <a:pt x="58341" y="45839"/>
                </a:lnTo>
                <a:cubicBezTo>
                  <a:pt x="58341" y="48131"/>
                  <a:pt x="56465" y="50006"/>
                  <a:pt x="54173" y="50006"/>
                </a:cubicBezTo>
                <a:lnTo>
                  <a:pt x="45839" y="50006"/>
                </a:lnTo>
                <a:cubicBezTo>
                  <a:pt x="43547" y="50006"/>
                  <a:pt x="41672" y="48131"/>
                  <a:pt x="41672" y="45839"/>
                </a:cubicBezTo>
                <a:lnTo>
                  <a:pt x="41672" y="37505"/>
                </a:lnTo>
                <a:cubicBezTo>
                  <a:pt x="41672" y="35213"/>
                  <a:pt x="43547" y="33337"/>
                  <a:pt x="45839" y="33337"/>
                </a:cubicBezTo>
                <a:close/>
                <a:moveTo>
                  <a:pt x="41672" y="62508"/>
                </a:moveTo>
                <a:cubicBezTo>
                  <a:pt x="41672" y="60216"/>
                  <a:pt x="43547" y="58341"/>
                  <a:pt x="45839" y="58341"/>
                </a:cubicBezTo>
                <a:lnTo>
                  <a:pt x="54173" y="58341"/>
                </a:lnTo>
                <a:cubicBezTo>
                  <a:pt x="56465" y="58341"/>
                  <a:pt x="58341" y="60216"/>
                  <a:pt x="58341" y="62508"/>
                </a:cubicBezTo>
                <a:lnTo>
                  <a:pt x="58341" y="70842"/>
                </a:lnTo>
                <a:cubicBezTo>
                  <a:pt x="58341" y="73134"/>
                  <a:pt x="56465" y="75009"/>
                  <a:pt x="54173" y="75009"/>
                </a:cubicBezTo>
                <a:lnTo>
                  <a:pt x="45839" y="75009"/>
                </a:lnTo>
                <a:cubicBezTo>
                  <a:pt x="43547" y="75009"/>
                  <a:pt x="41672" y="73134"/>
                  <a:pt x="41672" y="70842"/>
                </a:cubicBezTo>
                <a:lnTo>
                  <a:pt x="41672" y="62508"/>
                </a:lnTo>
                <a:close/>
                <a:moveTo>
                  <a:pt x="45839" y="83344"/>
                </a:moveTo>
                <a:lnTo>
                  <a:pt x="104180" y="83344"/>
                </a:lnTo>
                <a:cubicBezTo>
                  <a:pt x="106472" y="83344"/>
                  <a:pt x="108347" y="85219"/>
                  <a:pt x="108347" y="87511"/>
                </a:cubicBezTo>
                <a:lnTo>
                  <a:pt x="108347" y="95845"/>
                </a:lnTo>
                <a:cubicBezTo>
                  <a:pt x="108347" y="98137"/>
                  <a:pt x="106472" y="100013"/>
                  <a:pt x="104180" y="100013"/>
                </a:cubicBezTo>
                <a:lnTo>
                  <a:pt x="45839" y="100013"/>
                </a:lnTo>
                <a:cubicBezTo>
                  <a:pt x="43547" y="100013"/>
                  <a:pt x="41672" y="98137"/>
                  <a:pt x="41672" y="95845"/>
                </a:cubicBezTo>
                <a:lnTo>
                  <a:pt x="41672" y="87511"/>
                </a:lnTo>
                <a:cubicBezTo>
                  <a:pt x="41672" y="85219"/>
                  <a:pt x="43547" y="83344"/>
                  <a:pt x="45839" y="83344"/>
                </a:cubicBezTo>
                <a:close/>
                <a:moveTo>
                  <a:pt x="66675" y="37505"/>
                </a:moveTo>
                <a:cubicBezTo>
                  <a:pt x="66675" y="35213"/>
                  <a:pt x="68550" y="33337"/>
                  <a:pt x="70842" y="33337"/>
                </a:cubicBezTo>
                <a:lnTo>
                  <a:pt x="79177" y="33337"/>
                </a:lnTo>
                <a:cubicBezTo>
                  <a:pt x="81469" y="33337"/>
                  <a:pt x="83344" y="35213"/>
                  <a:pt x="83344" y="37505"/>
                </a:cubicBezTo>
                <a:lnTo>
                  <a:pt x="83344" y="45839"/>
                </a:lnTo>
                <a:cubicBezTo>
                  <a:pt x="83344" y="48131"/>
                  <a:pt x="81469" y="50006"/>
                  <a:pt x="79177" y="50006"/>
                </a:cubicBezTo>
                <a:lnTo>
                  <a:pt x="70842" y="50006"/>
                </a:lnTo>
                <a:cubicBezTo>
                  <a:pt x="68550" y="50006"/>
                  <a:pt x="66675" y="48131"/>
                  <a:pt x="66675" y="45839"/>
                </a:cubicBezTo>
                <a:lnTo>
                  <a:pt x="66675" y="37505"/>
                </a:lnTo>
                <a:close/>
                <a:moveTo>
                  <a:pt x="70842" y="58341"/>
                </a:moveTo>
                <a:lnTo>
                  <a:pt x="79177" y="58341"/>
                </a:lnTo>
                <a:cubicBezTo>
                  <a:pt x="8146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1469" y="75009"/>
                  <a:pt x="79177" y="75009"/>
                </a:cubicBezTo>
                <a:lnTo>
                  <a:pt x="70842" y="75009"/>
                </a:lnTo>
                <a:cubicBezTo>
                  <a:pt x="6855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8550" y="58341"/>
                  <a:pt x="70842" y="58341"/>
                </a:cubicBezTo>
                <a:close/>
                <a:moveTo>
                  <a:pt x="91678" y="37505"/>
                </a:moveTo>
                <a:cubicBezTo>
                  <a:pt x="91678" y="35213"/>
                  <a:pt x="93553" y="33337"/>
                  <a:pt x="95845" y="33337"/>
                </a:cubicBezTo>
                <a:lnTo>
                  <a:pt x="104180" y="33337"/>
                </a:lnTo>
                <a:cubicBezTo>
                  <a:pt x="106472" y="33337"/>
                  <a:pt x="108347" y="35213"/>
                  <a:pt x="108347" y="37505"/>
                </a:cubicBezTo>
                <a:lnTo>
                  <a:pt x="108347" y="45839"/>
                </a:lnTo>
                <a:cubicBezTo>
                  <a:pt x="108347" y="48131"/>
                  <a:pt x="106472" y="50006"/>
                  <a:pt x="104180" y="50006"/>
                </a:cubicBezTo>
                <a:lnTo>
                  <a:pt x="95845" y="50006"/>
                </a:lnTo>
                <a:cubicBezTo>
                  <a:pt x="93553" y="50006"/>
                  <a:pt x="91678" y="48131"/>
                  <a:pt x="91678" y="45839"/>
                </a:cubicBezTo>
                <a:lnTo>
                  <a:pt x="91678" y="37505"/>
                </a:lnTo>
                <a:close/>
                <a:moveTo>
                  <a:pt x="95845" y="58341"/>
                </a:moveTo>
                <a:lnTo>
                  <a:pt x="104180" y="58341"/>
                </a:lnTo>
                <a:cubicBezTo>
                  <a:pt x="106472" y="58341"/>
                  <a:pt x="108347" y="60216"/>
                  <a:pt x="108347" y="62508"/>
                </a:cubicBezTo>
                <a:lnTo>
                  <a:pt x="108347" y="70842"/>
                </a:lnTo>
                <a:cubicBezTo>
                  <a:pt x="108347" y="73134"/>
                  <a:pt x="106472" y="75009"/>
                  <a:pt x="104180" y="75009"/>
                </a:cubicBezTo>
                <a:lnTo>
                  <a:pt x="95845" y="75009"/>
                </a:lnTo>
                <a:cubicBezTo>
                  <a:pt x="93553" y="75009"/>
                  <a:pt x="91678" y="73134"/>
                  <a:pt x="91678" y="70842"/>
                </a:cubicBezTo>
                <a:lnTo>
                  <a:pt x="91678" y="62508"/>
                </a:lnTo>
                <a:cubicBezTo>
                  <a:pt x="91678" y="60216"/>
                  <a:pt x="93553" y="58341"/>
                  <a:pt x="95845" y="58341"/>
                </a:cubicBezTo>
                <a:close/>
                <a:moveTo>
                  <a:pt x="116681" y="37505"/>
                </a:moveTo>
                <a:cubicBezTo>
                  <a:pt x="116681" y="35213"/>
                  <a:pt x="118556" y="33337"/>
                  <a:pt x="120848" y="33337"/>
                </a:cubicBezTo>
                <a:lnTo>
                  <a:pt x="129183" y="33337"/>
                </a:lnTo>
                <a:cubicBezTo>
                  <a:pt x="131475" y="33337"/>
                  <a:pt x="133350" y="35213"/>
                  <a:pt x="133350" y="37505"/>
                </a:cubicBezTo>
                <a:lnTo>
                  <a:pt x="133350" y="45839"/>
                </a:lnTo>
                <a:cubicBezTo>
                  <a:pt x="133350" y="48131"/>
                  <a:pt x="131475" y="50006"/>
                  <a:pt x="129183" y="50006"/>
                </a:cubicBezTo>
                <a:lnTo>
                  <a:pt x="120848" y="50006"/>
                </a:lnTo>
                <a:cubicBezTo>
                  <a:pt x="118556" y="50006"/>
                  <a:pt x="116681" y="48131"/>
                  <a:pt x="116681" y="45839"/>
                </a:cubicBezTo>
                <a:lnTo>
                  <a:pt x="116681" y="37505"/>
                </a:lnTo>
                <a:close/>
                <a:moveTo>
                  <a:pt x="120848" y="58341"/>
                </a:moveTo>
                <a:lnTo>
                  <a:pt x="129183" y="58341"/>
                </a:lnTo>
                <a:cubicBezTo>
                  <a:pt x="131475" y="58341"/>
                  <a:pt x="133350" y="60216"/>
                  <a:pt x="133350" y="62508"/>
                </a:cubicBezTo>
                <a:lnTo>
                  <a:pt x="133350" y="70842"/>
                </a:lnTo>
                <a:cubicBezTo>
                  <a:pt x="133350" y="73134"/>
                  <a:pt x="131475" y="75009"/>
                  <a:pt x="129183" y="75009"/>
                </a:cubicBezTo>
                <a:lnTo>
                  <a:pt x="120848" y="75009"/>
                </a:lnTo>
                <a:cubicBezTo>
                  <a:pt x="118556" y="75009"/>
                  <a:pt x="116681" y="73134"/>
                  <a:pt x="116681" y="70842"/>
                </a:cubicBezTo>
                <a:lnTo>
                  <a:pt x="116681" y="62508"/>
                </a:lnTo>
                <a:cubicBezTo>
                  <a:pt x="116681" y="60216"/>
                  <a:pt x="118556" y="58341"/>
                  <a:pt x="120848" y="5834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41" name="Text 26"/>
          <p:cNvSpPr/>
          <p:nvPr/>
        </p:nvSpPr>
        <p:spPr>
          <a:xfrm>
            <a:off x="783545" y="2163814"/>
            <a:ext cx="3636169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9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Activation:</a:t>
            </a:r>
            <a:r>
              <a:rPr lang="en-US" sz="790" dirty="0">
                <a:latin typeface="Liter" pitchFamily="34" charset="0"/>
                <a:ea typeface="Liter" pitchFamily="34" charset="-122"/>
                <a:cs typeface="Liter" pitchFamily="34" charset="-120"/>
              </a:rPr>
              <a:t> Press 'v' key to start voice input</a:t>
            </a:r>
            <a:endParaRPr lang="en-US" sz="1200" dirty="0"/>
          </a:p>
        </p:txBody>
      </p:sp>
      <p:sp>
        <p:nvSpPr>
          <p:cNvPr id="42" name="Text 30"/>
          <p:cNvSpPr/>
          <p:nvPr/>
        </p:nvSpPr>
        <p:spPr>
          <a:xfrm>
            <a:off x="626841" y="3308813"/>
            <a:ext cx="3574521" cy="142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Backend Options</a:t>
            </a:r>
            <a:endParaRPr lang="en-US" sz="1400" dirty="0"/>
          </a:p>
        </p:txBody>
      </p:sp>
      <p:sp>
        <p:nvSpPr>
          <p:cNvPr id="44" name="Text 32"/>
          <p:cNvSpPr/>
          <p:nvPr/>
        </p:nvSpPr>
        <p:spPr>
          <a:xfrm>
            <a:off x="626841" y="3480054"/>
            <a:ext cx="464344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pyttsx3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3789814" y="3494342"/>
            <a:ext cx="371475" cy="142875"/>
          </a:xfrm>
          <a:custGeom>
            <a:avLst/>
            <a:gdLst/>
            <a:ahLst/>
            <a:cxnLst/>
            <a:rect l="l" t="t" r="r" b="b"/>
            <a:pathLst>
              <a:path w="495300" h="190500">
                <a:moveTo>
                  <a:pt x="38100" y="0"/>
                </a:moveTo>
                <a:lnTo>
                  <a:pt x="457200" y="0"/>
                </a:lnTo>
                <a:cubicBezTo>
                  <a:pt x="478228" y="0"/>
                  <a:pt x="495300" y="17072"/>
                  <a:pt x="495300" y="38100"/>
                </a:cubicBezTo>
                <a:lnTo>
                  <a:pt x="495300" y="152400"/>
                </a:lnTo>
                <a:cubicBezTo>
                  <a:pt x="495300" y="173428"/>
                  <a:pt x="478228" y="190500"/>
                  <a:pt x="4572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46" name="Text 34"/>
          <p:cNvSpPr/>
          <p:nvPr/>
        </p:nvSpPr>
        <p:spPr>
          <a:xfrm>
            <a:off x="3789814" y="3494342"/>
            <a:ext cx="414338" cy="142875"/>
          </a:xfrm>
          <a:prstGeom prst="rect">
            <a:avLst/>
          </a:prstGeom>
          <a:noFill/>
        </p:spPr>
        <p:txBody>
          <a:bodyPr wrap="square" lIns="57150" tIns="14288" rIns="57150" bIns="14288" rtlCol="0" anchor="ctr"/>
          <a:lstStyle/>
          <a:p>
            <a:pPr>
              <a:lnSpc>
                <a:spcPct val="110000"/>
              </a:lnSpc>
            </a:pPr>
            <a:r>
              <a:rPr lang="en-US" sz="675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626841" y="3680079"/>
            <a:ext cx="3793331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90" dirty="0">
                <a:latin typeface="Liter" pitchFamily="34" charset="0"/>
                <a:ea typeface="Liter" pitchFamily="34" charset="-122"/>
                <a:cs typeface="Liter" pitchFamily="34" charset="-120"/>
              </a:rPr>
              <a:t>Basic quality, no setup required</a:t>
            </a:r>
            <a:endParaRPr lang="en-US" sz="1200" dirty="0"/>
          </a:p>
        </p:txBody>
      </p:sp>
      <p:sp>
        <p:nvSpPr>
          <p:cNvPr id="49" name="Text 37"/>
          <p:cNvSpPr/>
          <p:nvPr/>
        </p:nvSpPr>
        <p:spPr>
          <a:xfrm>
            <a:off x="626841" y="3897924"/>
            <a:ext cx="850106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MiMo (Xiaomi)</a:t>
            </a:r>
            <a:endParaRPr lang="en-US" sz="1200" dirty="0"/>
          </a:p>
        </p:txBody>
      </p:sp>
      <p:sp>
        <p:nvSpPr>
          <p:cNvPr id="50" name="Shape 38"/>
          <p:cNvSpPr/>
          <p:nvPr/>
        </p:nvSpPr>
        <p:spPr>
          <a:xfrm>
            <a:off x="3822743" y="3912211"/>
            <a:ext cx="335756" cy="142875"/>
          </a:xfrm>
          <a:custGeom>
            <a:avLst/>
            <a:gdLst/>
            <a:ahLst/>
            <a:cxnLst/>
            <a:rect l="l" t="t" r="r" b="b"/>
            <a:pathLst>
              <a:path w="447675" h="190500">
                <a:moveTo>
                  <a:pt x="38100" y="0"/>
                </a:moveTo>
                <a:lnTo>
                  <a:pt x="409575" y="0"/>
                </a:lnTo>
                <a:cubicBezTo>
                  <a:pt x="430603" y="0"/>
                  <a:pt x="447675" y="17072"/>
                  <a:pt x="447675" y="38100"/>
                </a:cubicBezTo>
                <a:lnTo>
                  <a:pt x="447675" y="152400"/>
                </a:lnTo>
                <a:cubicBezTo>
                  <a:pt x="447675" y="173428"/>
                  <a:pt x="430603" y="190500"/>
                  <a:pt x="4095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51" name="Text 39"/>
          <p:cNvSpPr/>
          <p:nvPr/>
        </p:nvSpPr>
        <p:spPr>
          <a:xfrm>
            <a:off x="3822743" y="3912211"/>
            <a:ext cx="378619" cy="142875"/>
          </a:xfrm>
          <a:prstGeom prst="rect">
            <a:avLst/>
          </a:prstGeom>
          <a:noFill/>
        </p:spPr>
        <p:txBody>
          <a:bodyPr wrap="square" lIns="57150" tIns="14288" rIns="57150" bIns="14288" rtlCol="0" anchor="ctr"/>
          <a:lstStyle/>
          <a:p>
            <a:pPr>
              <a:lnSpc>
                <a:spcPct val="110000"/>
              </a:lnSpc>
            </a:pPr>
            <a:r>
              <a:rPr lang="en-US" sz="675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</a:t>
            </a:r>
            <a:endParaRPr lang="en-US" sz="1200" dirty="0"/>
          </a:p>
        </p:txBody>
      </p:sp>
      <p:sp>
        <p:nvSpPr>
          <p:cNvPr id="52" name="Text 40"/>
          <p:cNvSpPr/>
          <p:nvPr/>
        </p:nvSpPr>
        <p:spPr>
          <a:xfrm>
            <a:off x="626841" y="4097949"/>
            <a:ext cx="3793331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90" dirty="0">
                <a:latin typeface="Liter" pitchFamily="34" charset="0"/>
                <a:ea typeface="Liter" pitchFamily="34" charset="-122"/>
                <a:cs typeface="Liter" pitchFamily="34" charset="-120"/>
              </a:rPr>
              <a:t>High quality, requires API key</a:t>
            </a:r>
            <a:endParaRPr lang="en-US" sz="1200" dirty="0"/>
          </a:p>
        </p:txBody>
      </p:sp>
      <p:pic>
        <p:nvPicPr>
          <p:cNvPr id="53" name="Picture 2" descr="，AI 生成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37"/>
          <a:stretch>
            <a:fillRect/>
          </a:stretch>
        </p:blipFill>
        <p:spPr bwMode="auto">
          <a:xfrm>
            <a:off x="4889172" y="1270645"/>
            <a:ext cx="3860051" cy="185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右箭头 53"/>
          <p:cNvSpPr/>
          <p:nvPr/>
        </p:nvSpPr>
        <p:spPr>
          <a:xfrm>
            <a:off x="4336091" y="1450866"/>
            <a:ext cx="403736" cy="2699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5021368" y="3380251"/>
            <a:ext cx="3677099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altLang="zh-CN" sz="1050" dirty="0">
                <a:latin typeface="Liter" pitchFamily="34" charset="0"/>
              </a:rPr>
              <a:t>Whisper transcribes the command; </a:t>
            </a:r>
            <a:r>
              <a:rPr lang="en-GB" altLang="zh-CN" sz="1050" dirty="0">
                <a:solidFill>
                  <a:schemeClr val="accent1"/>
                </a:solidFill>
                <a:latin typeface="Liter" pitchFamily="34" charset="0"/>
              </a:rPr>
              <a:t>DeepSeek-v3</a:t>
            </a:r>
            <a:r>
              <a:rPr lang="en-GB" altLang="zh-CN" sz="1050" dirty="0">
                <a:latin typeface="Liter" pitchFamily="34" charset="0"/>
              </a:rPr>
              <a:t> uses both to return the most likely object name based on visual context.</a:t>
            </a:r>
            <a:endParaRPr lang="en-GB" altLang="zh-CN" sz="1050" dirty="0">
              <a:latin typeface="Liter" pitchFamily="34" charset="0"/>
            </a:endParaRPr>
          </a:p>
          <a:p>
            <a:pPr>
              <a:lnSpc>
                <a:spcPct val="120000"/>
              </a:lnSpc>
            </a:pPr>
            <a:endParaRPr lang="en-GB" altLang="zh-CN" sz="1050" dirty="0">
              <a:latin typeface="Liter" pitchFamily="34" charset="0"/>
            </a:endParaRPr>
          </a:p>
          <a:p>
            <a:pPr>
              <a:lnSpc>
                <a:spcPct val="120000"/>
              </a:lnSpc>
            </a:pPr>
            <a:r>
              <a:rPr lang="en-GB" altLang="zh-CN" sz="1050" dirty="0">
                <a:latin typeface="Liter" pitchFamily="34" charset="0"/>
              </a:rPr>
              <a:t>The system uses </a:t>
            </a:r>
            <a:r>
              <a:rPr lang="en-GB" altLang="zh-CN" sz="1050" b="1" dirty="0">
                <a:latin typeface="Liter" pitchFamily="34" charset="0"/>
              </a:rPr>
              <a:t>LLM-Vision multimodal fusion </a:t>
            </a:r>
            <a:r>
              <a:rPr lang="en-GB" altLang="zh-CN" sz="1050" dirty="0">
                <a:latin typeface="Liter" pitchFamily="34" charset="0"/>
              </a:rPr>
              <a:t>to correct ASR errors in real time, achieving precise user intent alignment.</a:t>
            </a:r>
            <a:endParaRPr lang="en-GB" altLang="zh-CN" sz="1050" dirty="0">
              <a:latin typeface="Liter" pitchFamily="34" charset="0"/>
            </a:endParaRPr>
          </a:p>
          <a:p>
            <a:endParaRPr lang="zh-CN" alt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71500" y="68591"/>
            <a:ext cx="8001000" cy="720068"/>
          </a:xfrm>
          <a:prstGeom prst="rect">
            <a:avLst/>
          </a:prstGeom>
          <a:noFill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Dual-Threshold Logic Delivers Stable, Professional-Grade Audio Instructions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1143000"/>
            <a:ext cx="213436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PROBLEM: INSTRUCTION JITTER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1384102"/>
            <a:ext cx="3421856" cy="527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Naive threshold-based guidance causes rapid oscillation (</a:t>
            </a:r>
            <a:r>
              <a:rPr lang="en-US" sz="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"Left… Right… Left…"</a:t>
            </a: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when the hand is near the alignment boundary, making the system confusing.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" y="2161291"/>
            <a:ext cx="2400850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SOLUTION: HYSTERESIS ALGORITHM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2466338"/>
            <a:ext cx="3421856" cy="8810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Implements two distinct thresholds for state transitions:
 </a:t>
            </a:r>
            <a:r>
              <a:rPr lang="en-US" sz="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Threshold (Outer):</a:t>
            </a: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new directional instruction is triggered only when the offset exceeds a larger boundary.
 </a:t>
            </a:r>
            <a:r>
              <a:rPr lang="en-US" sz="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Threshold (Inner):</a:t>
            </a: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instruction is cancelled only when the offset drops below a smaller boundary.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1500" y="3911036"/>
            <a:ext cx="186294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RESULT: STABLE GUIDANCE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" y="4152137"/>
            <a:ext cx="3421856" cy="527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a stable </a:t>
            </a:r>
            <a:r>
              <a:rPr lang="en-US" sz="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"dead zone"</a:t>
            </a: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around alignment. Instructions are issued decisively and cancelled cleanly, ensuring calm and confident spatial audio feedback.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857250"/>
            <a:ext cx="4572000" cy="428625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5429250" y="4466992"/>
            <a:ext cx="2857500" cy="471488"/>
          </a:xfrm>
          <a:prstGeom prst="rect">
            <a:avLst/>
          </a:prstGeom>
          <a:noFill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1D Spatial Offset Axis demonstrating dual-threshold state transitions for </a:t>
            </a:r>
            <a:r>
              <a:rPr lang="en-US" sz="735" b="1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jitter-free</a:t>
            </a:r>
            <a:r>
              <a:rPr lang="en-US" sz="735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interaction.</a:t>
            </a:r>
            <a:endParaRPr lang="en-US" sz="735" dirty="0"/>
          </a:p>
        </p:txBody>
      </p:sp>
      <p:pic>
        <p:nvPicPr>
          <p:cNvPr id="3074" name="Picture 2" descr="，AI 生成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808" y="947875"/>
            <a:ext cx="4452384" cy="3456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71500" y="242888"/>
            <a:ext cx="285750" cy="2857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251820" y="190915"/>
            <a:ext cx="8001000" cy="753989"/>
          </a:xfrm>
          <a:prstGeom prst="rect">
            <a:avLst/>
          </a:prstGeom>
          <a:noFill/>
        </p:spPr>
        <p:txBody>
          <a:bodyPr wrap="square" lIns="0" tIns="204089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sz="16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System Performance Metrics</a:t>
            </a:r>
            <a:endParaRPr lang="en-US" sz="1600" b="1" dirty="0">
              <a:solidFill>
                <a:srgbClr val="1A1A1A"/>
              </a:solidFill>
              <a:latin typeface="Playfair Display" pitchFamily="34" charset="0"/>
              <a:ea typeface="Playfair Display" pitchFamily="34" charset="-122"/>
              <a:cs typeface="Playfair Display" pitchFamily="34" charset="-120"/>
            </a:endParaRPr>
          </a:p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27" name="Shape 2"/>
          <p:cNvSpPr/>
          <p:nvPr/>
        </p:nvSpPr>
        <p:spPr>
          <a:xfrm>
            <a:off x="216157" y="868302"/>
            <a:ext cx="2734405" cy="1785485"/>
          </a:xfrm>
          <a:custGeom>
            <a:avLst/>
            <a:gdLst/>
            <a:ahLst/>
            <a:cxnLst/>
            <a:rect l="l" t="t" r="r" b="b"/>
            <a:pathLst>
              <a:path w="5650610" h="2240449">
                <a:moveTo>
                  <a:pt x="71986" y="0"/>
                </a:moveTo>
                <a:lnTo>
                  <a:pt x="5578624" y="0"/>
                </a:lnTo>
                <a:cubicBezTo>
                  <a:pt x="5618354" y="0"/>
                  <a:pt x="5650610" y="32256"/>
                  <a:pt x="5650610" y="71986"/>
                </a:cubicBezTo>
                <a:lnTo>
                  <a:pt x="5650610" y="2168463"/>
                </a:lnTo>
                <a:cubicBezTo>
                  <a:pt x="5650610" y="2208193"/>
                  <a:pt x="5618354" y="2240449"/>
                  <a:pt x="5578624" y="2240449"/>
                </a:cubicBezTo>
                <a:lnTo>
                  <a:pt x="71986" y="2240449"/>
                </a:lnTo>
                <a:cubicBezTo>
                  <a:pt x="32256" y="2240449"/>
                  <a:pt x="0" y="2208193"/>
                  <a:pt x="0" y="2168463"/>
                </a:cubicBezTo>
                <a:lnTo>
                  <a:pt x="0" y="71986"/>
                </a:lnTo>
                <a:cubicBezTo>
                  <a:pt x="0" y="32256"/>
                  <a:pt x="32256" y="0"/>
                  <a:pt x="71986" y="0"/>
                </a:cubicBezTo>
                <a:close/>
              </a:path>
            </a:pathLst>
          </a:custGeom>
          <a:solidFill>
            <a:schemeClr val="accent5">
              <a:alpha val="5098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zh-CN" altLang="en-US" sz="1600" dirty="0"/>
          </a:p>
        </p:txBody>
      </p:sp>
      <p:sp>
        <p:nvSpPr>
          <p:cNvPr id="28" name="Shape 2"/>
          <p:cNvSpPr/>
          <p:nvPr/>
        </p:nvSpPr>
        <p:spPr>
          <a:xfrm>
            <a:off x="216157" y="2888883"/>
            <a:ext cx="2734405" cy="1785485"/>
          </a:xfrm>
          <a:custGeom>
            <a:avLst/>
            <a:gdLst/>
            <a:ahLst/>
            <a:cxnLst/>
            <a:rect l="l" t="t" r="r" b="b"/>
            <a:pathLst>
              <a:path w="5650610" h="2240449">
                <a:moveTo>
                  <a:pt x="71986" y="0"/>
                </a:moveTo>
                <a:lnTo>
                  <a:pt x="5578624" y="0"/>
                </a:lnTo>
                <a:cubicBezTo>
                  <a:pt x="5618354" y="0"/>
                  <a:pt x="5650610" y="32256"/>
                  <a:pt x="5650610" y="71986"/>
                </a:cubicBezTo>
                <a:lnTo>
                  <a:pt x="5650610" y="2168463"/>
                </a:lnTo>
                <a:cubicBezTo>
                  <a:pt x="5650610" y="2208193"/>
                  <a:pt x="5618354" y="2240449"/>
                  <a:pt x="5578624" y="2240449"/>
                </a:cubicBezTo>
                <a:lnTo>
                  <a:pt x="71986" y="2240449"/>
                </a:lnTo>
                <a:cubicBezTo>
                  <a:pt x="32256" y="2240449"/>
                  <a:pt x="0" y="2208193"/>
                  <a:pt x="0" y="2168463"/>
                </a:cubicBezTo>
                <a:lnTo>
                  <a:pt x="0" y="71986"/>
                </a:lnTo>
                <a:cubicBezTo>
                  <a:pt x="0" y="32256"/>
                  <a:pt x="32256" y="0"/>
                  <a:pt x="71986" y="0"/>
                </a:cubicBezTo>
                <a:close/>
              </a:path>
            </a:pathLst>
          </a:custGeom>
          <a:solidFill>
            <a:schemeClr val="accent5">
              <a:alpha val="5098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zh-CN" altLang="en-US" sz="1600" dirty="0"/>
          </a:p>
        </p:txBody>
      </p:sp>
      <p:sp>
        <p:nvSpPr>
          <p:cNvPr id="29" name="Shape 2"/>
          <p:cNvSpPr/>
          <p:nvPr/>
        </p:nvSpPr>
        <p:spPr>
          <a:xfrm>
            <a:off x="3187958" y="861158"/>
            <a:ext cx="2734405" cy="1785485"/>
          </a:xfrm>
          <a:custGeom>
            <a:avLst/>
            <a:gdLst/>
            <a:ahLst/>
            <a:cxnLst/>
            <a:rect l="l" t="t" r="r" b="b"/>
            <a:pathLst>
              <a:path w="5650610" h="2240449">
                <a:moveTo>
                  <a:pt x="71986" y="0"/>
                </a:moveTo>
                <a:lnTo>
                  <a:pt x="5578624" y="0"/>
                </a:lnTo>
                <a:cubicBezTo>
                  <a:pt x="5618354" y="0"/>
                  <a:pt x="5650610" y="32256"/>
                  <a:pt x="5650610" y="71986"/>
                </a:cubicBezTo>
                <a:lnTo>
                  <a:pt x="5650610" y="2168463"/>
                </a:lnTo>
                <a:cubicBezTo>
                  <a:pt x="5650610" y="2208193"/>
                  <a:pt x="5618354" y="2240449"/>
                  <a:pt x="5578624" y="2240449"/>
                </a:cubicBezTo>
                <a:lnTo>
                  <a:pt x="71986" y="2240449"/>
                </a:lnTo>
                <a:cubicBezTo>
                  <a:pt x="32256" y="2240449"/>
                  <a:pt x="0" y="2208193"/>
                  <a:pt x="0" y="2168463"/>
                </a:cubicBezTo>
                <a:lnTo>
                  <a:pt x="0" y="71986"/>
                </a:lnTo>
                <a:cubicBezTo>
                  <a:pt x="0" y="32256"/>
                  <a:pt x="32256" y="0"/>
                  <a:pt x="71986" y="0"/>
                </a:cubicBezTo>
                <a:close/>
              </a:path>
            </a:pathLst>
          </a:custGeom>
          <a:solidFill>
            <a:schemeClr val="accent5">
              <a:alpha val="5098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zh-CN" altLang="en-US" sz="1600" dirty="0"/>
          </a:p>
        </p:txBody>
      </p:sp>
      <p:sp>
        <p:nvSpPr>
          <p:cNvPr id="30" name="Shape 2"/>
          <p:cNvSpPr/>
          <p:nvPr/>
        </p:nvSpPr>
        <p:spPr>
          <a:xfrm>
            <a:off x="3187958" y="2881739"/>
            <a:ext cx="2734405" cy="1785485"/>
          </a:xfrm>
          <a:custGeom>
            <a:avLst/>
            <a:gdLst/>
            <a:ahLst/>
            <a:cxnLst/>
            <a:rect l="l" t="t" r="r" b="b"/>
            <a:pathLst>
              <a:path w="5650610" h="2240449">
                <a:moveTo>
                  <a:pt x="71986" y="0"/>
                </a:moveTo>
                <a:lnTo>
                  <a:pt x="5578624" y="0"/>
                </a:lnTo>
                <a:cubicBezTo>
                  <a:pt x="5618354" y="0"/>
                  <a:pt x="5650610" y="32256"/>
                  <a:pt x="5650610" y="71986"/>
                </a:cubicBezTo>
                <a:lnTo>
                  <a:pt x="5650610" y="2168463"/>
                </a:lnTo>
                <a:cubicBezTo>
                  <a:pt x="5650610" y="2208193"/>
                  <a:pt x="5618354" y="2240449"/>
                  <a:pt x="5578624" y="2240449"/>
                </a:cubicBezTo>
                <a:lnTo>
                  <a:pt x="71986" y="2240449"/>
                </a:lnTo>
                <a:cubicBezTo>
                  <a:pt x="32256" y="2240449"/>
                  <a:pt x="0" y="2208193"/>
                  <a:pt x="0" y="2168463"/>
                </a:cubicBezTo>
                <a:lnTo>
                  <a:pt x="0" y="71986"/>
                </a:lnTo>
                <a:cubicBezTo>
                  <a:pt x="0" y="32256"/>
                  <a:pt x="32256" y="0"/>
                  <a:pt x="71986" y="0"/>
                </a:cubicBezTo>
                <a:close/>
              </a:path>
            </a:pathLst>
          </a:custGeom>
          <a:solidFill>
            <a:schemeClr val="accent5">
              <a:alpha val="5098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zh-CN" altLang="en-US" sz="1600" dirty="0"/>
          </a:p>
        </p:txBody>
      </p:sp>
      <p:sp>
        <p:nvSpPr>
          <p:cNvPr id="31" name="Shape 2"/>
          <p:cNvSpPr/>
          <p:nvPr/>
        </p:nvSpPr>
        <p:spPr>
          <a:xfrm>
            <a:off x="6200044" y="868302"/>
            <a:ext cx="2734405" cy="1785485"/>
          </a:xfrm>
          <a:custGeom>
            <a:avLst/>
            <a:gdLst/>
            <a:ahLst/>
            <a:cxnLst/>
            <a:rect l="l" t="t" r="r" b="b"/>
            <a:pathLst>
              <a:path w="5650610" h="2240449">
                <a:moveTo>
                  <a:pt x="71986" y="0"/>
                </a:moveTo>
                <a:lnTo>
                  <a:pt x="5578624" y="0"/>
                </a:lnTo>
                <a:cubicBezTo>
                  <a:pt x="5618354" y="0"/>
                  <a:pt x="5650610" y="32256"/>
                  <a:pt x="5650610" y="71986"/>
                </a:cubicBezTo>
                <a:lnTo>
                  <a:pt x="5650610" y="2168463"/>
                </a:lnTo>
                <a:cubicBezTo>
                  <a:pt x="5650610" y="2208193"/>
                  <a:pt x="5618354" y="2240449"/>
                  <a:pt x="5578624" y="2240449"/>
                </a:cubicBezTo>
                <a:lnTo>
                  <a:pt x="71986" y="2240449"/>
                </a:lnTo>
                <a:cubicBezTo>
                  <a:pt x="32256" y="2240449"/>
                  <a:pt x="0" y="2208193"/>
                  <a:pt x="0" y="2168463"/>
                </a:cubicBezTo>
                <a:lnTo>
                  <a:pt x="0" y="71986"/>
                </a:lnTo>
                <a:cubicBezTo>
                  <a:pt x="0" y="32256"/>
                  <a:pt x="32256" y="0"/>
                  <a:pt x="71986" y="0"/>
                </a:cubicBezTo>
                <a:close/>
              </a:path>
            </a:pathLst>
          </a:custGeom>
          <a:solidFill>
            <a:schemeClr val="accent5">
              <a:alpha val="5098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zh-CN" altLang="en-US" sz="1600" dirty="0"/>
          </a:p>
        </p:txBody>
      </p:sp>
      <p:sp>
        <p:nvSpPr>
          <p:cNvPr id="32" name="Shape 2"/>
          <p:cNvSpPr/>
          <p:nvPr/>
        </p:nvSpPr>
        <p:spPr>
          <a:xfrm>
            <a:off x="6200044" y="2888883"/>
            <a:ext cx="2734405" cy="1785485"/>
          </a:xfrm>
          <a:custGeom>
            <a:avLst/>
            <a:gdLst/>
            <a:ahLst/>
            <a:cxnLst/>
            <a:rect l="l" t="t" r="r" b="b"/>
            <a:pathLst>
              <a:path w="5650610" h="2240449">
                <a:moveTo>
                  <a:pt x="71986" y="0"/>
                </a:moveTo>
                <a:lnTo>
                  <a:pt x="5578624" y="0"/>
                </a:lnTo>
                <a:cubicBezTo>
                  <a:pt x="5618354" y="0"/>
                  <a:pt x="5650610" y="32256"/>
                  <a:pt x="5650610" y="71986"/>
                </a:cubicBezTo>
                <a:lnTo>
                  <a:pt x="5650610" y="2168463"/>
                </a:lnTo>
                <a:cubicBezTo>
                  <a:pt x="5650610" y="2208193"/>
                  <a:pt x="5618354" y="2240449"/>
                  <a:pt x="5578624" y="2240449"/>
                </a:cubicBezTo>
                <a:lnTo>
                  <a:pt x="71986" y="2240449"/>
                </a:lnTo>
                <a:cubicBezTo>
                  <a:pt x="32256" y="2240449"/>
                  <a:pt x="0" y="2208193"/>
                  <a:pt x="0" y="2168463"/>
                </a:cubicBezTo>
                <a:lnTo>
                  <a:pt x="0" y="71986"/>
                </a:lnTo>
                <a:cubicBezTo>
                  <a:pt x="0" y="32256"/>
                  <a:pt x="32256" y="0"/>
                  <a:pt x="71986" y="0"/>
                </a:cubicBezTo>
                <a:close/>
              </a:path>
            </a:pathLst>
          </a:custGeom>
          <a:solidFill>
            <a:schemeClr val="accent5">
              <a:alpha val="5098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zh-CN" altLang="en-US" sz="1600" dirty="0"/>
          </a:p>
        </p:txBody>
      </p:sp>
      <p:sp>
        <p:nvSpPr>
          <p:cNvPr id="49" name="Shape 5"/>
          <p:cNvSpPr/>
          <p:nvPr/>
        </p:nvSpPr>
        <p:spPr>
          <a:xfrm>
            <a:off x="402199" y="983748"/>
            <a:ext cx="123754" cy="123754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43120" y="11699"/>
                </a:moveTo>
                <a:cubicBezTo>
                  <a:pt x="46633" y="14148"/>
                  <a:pt x="47471" y="18982"/>
                  <a:pt x="45022" y="22463"/>
                </a:cubicBezTo>
                <a:lnTo>
                  <a:pt x="26974" y="48244"/>
                </a:lnTo>
                <a:cubicBezTo>
                  <a:pt x="25653" y="50114"/>
                  <a:pt x="23590" y="51306"/>
                  <a:pt x="21302" y="51499"/>
                </a:cubicBezTo>
                <a:cubicBezTo>
                  <a:pt x="19014" y="51693"/>
                  <a:pt x="16758" y="50919"/>
                  <a:pt x="15147" y="49308"/>
                </a:cubicBezTo>
                <a:lnTo>
                  <a:pt x="2256" y="36417"/>
                </a:lnTo>
                <a:cubicBezTo>
                  <a:pt x="-741" y="33388"/>
                  <a:pt x="-741" y="28489"/>
                  <a:pt x="2256" y="25460"/>
                </a:cubicBezTo>
                <a:cubicBezTo>
                  <a:pt x="5253" y="22430"/>
                  <a:pt x="10184" y="22463"/>
                  <a:pt x="13213" y="25460"/>
                </a:cubicBezTo>
                <a:lnTo>
                  <a:pt x="19594" y="31841"/>
                </a:lnTo>
                <a:lnTo>
                  <a:pt x="32356" y="13600"/>
                </a:lnTo>
                <a:cubicBezTo>
                  <a:pt x="34806" y="10087"/>
                  <a:pt x="39640" y="9249"/>
                  <a:pt x="43120" y="11699"/>
                </a:cubicBezTo>
                <a:close/>
                <a:moveTo>
                  <a:pt x="43120" y="63262"/>
                </a:moveTo>
                <a:cubicBezTo>
                  <a:pt x="46633" y="65712"/>
                  <a:pt x="47471" y="70546"/>
                  <a:pt x="45022" y="74026"/>
                </a:cubicBezTo>
                <a:lnTo>
                  <a:pt x="26974" y="99808"/>
                </a:lnTo>
                <a:cubicBezTo>
                  <a:pt x="25653" y="101678"/>
                  <a:pt x="23590" y="102870"/>
                  <a:pt x="21302" y="103063"/>
                </a:cubicBezTo>
                <a:cubicBezTo>
                  <a:pt x="19014" y="103257"/>
                  <a:pt x="16758" y="102483"/>
                  <a:pt x="15147" y="100872"/>
                </a:cubicBezTo>
                <a:lnTo>
                  <a:pt x="2256" y="87981"/>
                </a:lnTo>
                <a:cubicBezTo>
                  <a:pt x="-773" y="84952"/>
                  <a:pt x="-773" y="80053"/>
                  <a:pt x="2256" y="77056"/>
                </a:cubicBezTo>
                <a:cubicBezTo>
                  <a:pt x="5285" y="74059"/>
                  <a:pt x="10184" y="74026"/>
                  <a:pt x="13181" y="77056"/>
                </a:cubicBezTo>
                <a:lnTo>
                  <a:pt x="19562" y="83437"/>
                </a:lnTo>
                <a:lnTo>
                  <a:pt x="32324" y="65196"/>
                </a:lnTo>
                <a:cubicBezTo>
                  <a:pt x="34773" y="61683"/>
                  <a:pt x="39608" y="60845"/>
                  <a:pt x="43088" y="63295"/>
                </a:cubicBezTo>
                <a:close/>
                <a:moveTo>
                  <a:pt x="72189" y="30938"/>
                </a:moveTo>
                <a:cubicBezTo>
                  <a:pt x="72189" y="25234"/>
                  <a:pt x="76798" y="20626"/>
                  <a:pt x="82502" y="20626"/>
                </a:cubicBezTo>
                <a:lnTo>
                  <a:pt x="154692" y="20626"/>
                </a:lnTo>
                <a:cubicBezTo>
                  <a:pt x="160396" y="20626"/>
                  <a:pt x="165005" y="25234"/>
                  <a:pt x="165005" y="30938"/>
                </a:cubicBezTo>
                <a:cubicBezTo>
                  <a:pt x="165005" y="36643"/>
                  <a:pt x="160396" y="41251"/>
                  <a:pt x="154692" y="41251"/>
                </a:cubicBezTo>
                <a:lnTo>
                  <a:pt x="82502" y="41251"/>
                </a:lnTo>
                <a:cubicBezTo>
                  <a:pt x="76798" y="41251"/>
                  <a:pt x="72189" y="36643"/>
                  <a:pt x="72189" y="30938"/>
                </a:cubicBezTo>
                <a:close/>
                <a:moveTo>
                  <a:pt x="72189" y="82502"/>
                </a:moveTo>
                <a:cubicBezTo>
                  <a:pt x="72189" y="76798"/>
                  <a:pt x="76798" y="72189"/>
                  <a:pt x="82502" y="72189"/>
                </a:cubicBezTo>
                <a:lnTo>
                  <a:pt x="154692" y="72189"/>
                </a:lnTo>
                <a:cubicBezTo>
                  <a:pt x="160396" y="72189"/>
                  <a:pt x="165005" y="76798"/>
                  <a:pt x="165005" y="82502"/>
                </a:cubicBezTo>
                <a:cubicBezTo>
                  <a:pt x="165005" y="88207"/>
                  <a:pt x="160396" y="92815"/>
                  <a:pt x="154692" y="92815"/>
                </a:cubicBezTo>
                <a:lnTo>
                  <a:pt x="82502" y="92815"/>
                </a:lnTo>
                <a:cubicBezTo>
                  <a:pt x="76798" y="92815"/>
                  <a:pt x="72189" y="88207"/>
                  <a:pt x="72189" y="82502"/>
                </a:cubicBezTo>
                <a:close/>
                <a:moveTo>
                  <a:pt x="51564" y="134066"/>
                </a:moveTo>
                <a:cubicBezTo>
                  <a:pt x="51564" y="128362"/>
                  <a:pt x="56172" y="123753"/>
                  <a:pt x="61877" y="123753"/>
                </a:cubicBezTo>
                <a:lnTo>
                  <a:pt x="154692" y="123753"/>
                </a:lnTo>
                <a:cubicBezTo>
                  <a:pt x="160396" y="123753"/>
                  <a:pt x="165005" y="128362"/>
                  <a:pt x="165005" y="134066"/>
                </a:cubicBezTo>
                <a:cubicBezTo>
                  <a:pt x="165005" y="139770"/>
                  <a:pt x="160396" y="144379"/>
                  <a:pt x="154692" y="144379"/>
                </a:cubicBezTo>
                <a:lnTo>
                  <a:pt x="61877" y="144379"/>
                </a:lnTo>
                <a:cubicBezTo>
                  <a:pt x="56172" y="144379"/>
                  <a:pt x="51564" y="139770"/>
                  <a:pt x="51564" y="134066"/>
                </a:cubicBezTo>
                <a:close/>
                <a:moveTo>
                  <a:pt x="20626" y="121175"/>
                </a:moveTo>
                <a:cubicBezTo>
                  <a:pt x="27740" y="121175"/>
                  <a:pt x="33517" y="126951"/>
                  <a:pt x="33517" y="134066"/>
                </a:cubicBezTo>
                <a:cubicBezTo>
                  <a:pt x="33517" y="141181"/>
                  <a:pt x="27740" y="146957"/>
                  <a:pt x="20626" y="146957"/>
                </a:cubicBezTo>
                <a:cubicBezTo>
                  <a:pt x="13511" y="146957"/>
                  <a:pt x="7735" y="141181"/>
                  <a:pt x="7735" y="134066"/>
                </a:cubicBezTo>
                <a:cubicBezTo>
                  <a:pt x="7735" y="126951"/>
                  <a:pt x="13511" y="121175"/>
                  <a:pt x="20626" y="121175"/>
                </a:cubicBezTo>
                <a:close/>
              </a:path>
            </a:pathLst>
          </a:custGeom>
          <a:solidFill>
            <a:srgbClr val="1A535C"/>
          </a:solidFill>
        </p:spPr>
        <p:txBody>
          <a:bodyPr/>
          <a:lstStyle/>
          <a:p>
            <a:endParaRPr lang="zh-CN" altLang="en-US" sz="1600"/>
          </a:p>
        </p:txBody>
      </p:sp>
      <p:sp>
        <p:nvSpPr>
          <p:cNvPr id="50" name="Text 6"/>
          <p:cNvSpPr/>
          <p:nvPr/>
        </p:nvSpPr>
        <p:spPr>
          <a:xfrm>
            <a:off x="594704" y="963121"/>
            <a:ext cx="1038154" cy="16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Task-Level Metrics</a:t>
            </a:r>
            <a:endParaRPr lang="en-US" sz="1600" dirty="0"/>
          </a:p>
        </p:txBody>
      </p:sp>
      <p:sp>
        <p:nvSpPr>
          <p:cNvPr id="51" name="Text 7"/>
          <p:cNvSpPr/>
          <p:nvPr/>
        </p:nvSpPr>
        <p:spPr>
          <a:xfrm>
            <a:off x="385010" y="1304890"/>
            <a:ext cx="586539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session_id</a:t>
            </a:r>
            <a:endParaRPr lang="en-US" sz="1600" dirty="0"/>
          </a:p>
        </p:txBody>
      </p:sp>
      <p:sp>
        <p:nvSpPr>
          <p:cNvPr id="52" name="Text 8"/>
          <p:cNvSpPr/>
          <p:nvPr/>
        </p:nvSpPr>
        <p:spPr>
          <a:xfrm>
            <a:off x="1600483" y="1304889"/>
            <a:ext cx="1296061" cy="9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identifier (UUID)</a:t>
            </a:r>
            <a:endParaRPr lang="en-US" sz="1600" dirty="0"/>
          </a:p>
        </p:txBody>
      </p:sp>
      <p:sp>
        <p:nvSpPr>
          <p:cNvPr id="53" name="Text 9"/>
          <p:cNvSpPr/>
          <p:nvPr/>
        </p:nvSpPr>
        <p:spPr>
          <a:xfrm>
            <a:off x="385009" y="1456144"/>
            <a:ext cx="416253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task_id</a:t>
            </a:r>
            <a:endParaRPr lang="en-US" sz="1600" dirty="0"/>
          </a:p>
        </p:txBody>
      </p:sp>
      <p:sp>
        <p:nvSpPr>
          <p:cNvPr id="54" name="Text 10"/>
          <p:cNvSpPr/>
          <p:nvPr/>
        </p:nvSpPr>
        <p:spPr>
          <a:xfrm>
            <a:off x="1884292" y="1456143"/>
            <a:ext cx="1012252" cy="9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Incremental task ID</a:t>
            </a:r>
            <a:endParaRPr lang="en-US" sz="1600" dirty="0"/>
          </a:p>
        </p:txBody>
      </p:sp>
      <p:sp>
        <p:nvSpPr>
          <p:cNvPr id="55" name="Text 11"/>
          <p:cNvSpPr/>
          <p:nvPr/>
        </p:nvSpPr>
        <p:spPr>
          <a:xfrm>
            <a:off x="385010" y="1607398"/>
            <a:ext cx="64330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end_reason</a:t>
            </a:r>
            <a:endParaRPr lang="en-US" sz="1600" dirty="0"/>
          </a:p>
        </p:txBody>
      </p:sp>
      <p:sp>
        <p:nvSpPr>
          <p:cNvPr id="56" name="Text 12"/>
          <p:cNvSpPr/>
          <p:nvPr/>
        </p:nvSpPr>
        <p:spPr>
          <a:xfrm>
            <a:off x="1941054" y="1607397"/>
            <a:ext cx="955490" cy="9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Completion cause</a:t>
            </a:r>
            <a:endParaRPr lang="en-US" sz="1600" dirty="0"/>
          </a:p>
        </p:txBody>
      </p:sp>
      <p:sp>
        <p:nvSpPr>
          <p:cNvPr id="57" name="Text 13"/>
          <p:cNvSpPr/>
          <p:nvPr/>
        </p:nvSpPr>
        <p:spPr>
          <a:xfrm>
            <a:off x="385010" y="1758652"/>
            <a:ext cx="1135236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target_visible_frames</a:t>
            </a:r>
            <a:endParaRPr lang="en-US" sz="1600" dirty="0"/>
          </a:p>
        </p:txBody>
      </p:sp>
      <p:sp>
        <p:nvSpPr>
          <p:cNvPr id="58" name="Text 14"/>
          <p:cNvSpPr/>
          <p:nvPr/>
        </p:nvSpPr>
        <p:spPr>
          <a:xfrm>
            <a:off x="1714006" y="1758651"/>
            <a:ext cx="1182538" cy="9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Stable detection count</a:t>
            </a:r>
            <a:endParaRPr lang="en-US" sz="1600" dirty="0"/>
          </a:p>
        </p:txBody>
      </p:sp>
      <p:sp>
        <p:nvSpPr>
          <p:cNvPr id="59" name="Text 15"/>
          <p:cNvSpPr/>
          <p:nvPr/>
        </p:nvSpPr>
        <p:spPr>
          <a:xfrm>
            <a:off x="385011" y="1909906"/>
            <a:ext cx="1267680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first_target_detected_ts</a:t>
            </a:r>
            <a:endParaRPr lang="en-US" sz="1600" dirty="0"/>
          </a:p>
        </p:txBody>
      </p:sp>
      <p:sp>
        <p:nvSpPr>
          <p:cNvPr id="60" name="Text 16"/>
          <p:cNvSpPr/>
          <p:nvPr/>
        </p:nvSpPr>
        <p:spPr>
          <a:xfrm>
            <a:off x="1553181" y="1909905"/>
            <a:ext cx="1343363" cy="9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detection timestamp</a:t>
            </a:r>
            <a:endParaRPr lang="en-US" sz="1600" dirty="0"/>
          </a:p>
        </p:txBody>
      </p:sp>
      <p:sp>
        <p:nvSpPr>
          <p:cNvPr id="61" name="Text 17"/>
          <p:cNvSpPr/>
          <p:nvPr/>
        </p:nvSpPr>
        <p:spPr>
          <a:xfrm>
            <a:off x="385011" y="2061160"/>
            <a:ext cx="728444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report_status</a:t>
            </a:r>
            <a:endParaRPr lang="en-US" sz="1600" dirty="0"/>
          </a:p>
        </p:txBody>
      </p:sp>
      <p:sp>
        <p:nvSpPr>
          <p:cNvPr id="62" name="Text 18"/>
          <p:cNvSpPr/>
          <p:nvPr/>
        </p:nvSpPr>
        <p:spPr>
          <a:xfrm>
            <a:off x="1808610" y="2061159"/>
            <a:ext cx="1087934" cy="9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 report emitted</a:t>
            </a:r>
            <a:endParaRPr lang="en-US" sz="1600" dirty="0"/>
          </a:p>
        </p:txBody>
      </p:sp>
      <p:sp>
        <p:nvSpPr>
          <p:cNvPr id="65" name="Shape 21"/>
          <p:cNvSpPr/>
          <p:nvPr/>
        </p:nvSpPr>
        <p:spPr>
          <a:xfrm>
            <a:off x="402199" y="3037316"/>
            <a:ext cx="123753" cy="125866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56720" y="7735"/>
                </a:moveTo>
                <a:cubicBezTo>
                  <a:pt x="56720" y="3448"/>
                  <a:pt x="53272" y="0"/>
                  <a:pt x="48986" y="0"/>
                </a:cubicBezTo>
                <a:cubicBezTo>
                  <a:pt x="44699" y="0"/>
                  <a:pt x="41251" y="3448"/>
                  <a:pt x="41251" y="7735"/>
                </a:cubicBezTo>
                <a:lnTo>
                  <a:pt x="41251" y="20626"/>
                </a:lnTo>
                <a:cubicBezTo>
                  <a:pt x="29875" y="20626"/>
                  <a:pt x="20626" y="29875"/>
                  <a:pt x="20626" y="41251"/>
                </a:cubicBezTo>
                <a:lnTo>
                  <a:pt x="7735" y="41251"/>
                </a:lnTo>
                <a:cubicBezTo>
                  <a:pt x="3448" y="41251"/>
                  <a:pt x="0" y="44699"/>
                  <a:pt x="0" y="48986"/>
                </a:cubicBezTo>
                <a:cubicBezTo>
                  <a:pt x="0" y="53272"/>
                  <a:pt x="3448" y="56720"/>
                  <a:pt x="7735" y="56720"/>
                </a:cubicBezTo>
                <a:lnTo>
                  <a:pt x="20626" y="56720"/>
                </a:lnTo>
                <a:lnTo>
                  <a:pt x="20626" y="74768"/>
                </a:lnTo>
                <a:lnTo>
                  <a:pt x="7735" y="74768"/>
                </a:lnTo>
                <a:cubicBezTo>
                  <a:pt x="3448" y="74768"/>
                  <a:pt x="0" y="78216"/>
                  <a:pt x="0" y="82502"/>
                </a:cubicBezTo>
                <a:cubicBezTo>
                  <a:pt x="0" y="86789"/>
                  <a:pt x="3448" y="90237"/>
                  <a:pt x="7735" y="90237"/>
                </a:cubicBezTo>
                <a:lnTo>
                  <a:pt x="20626" y="90237"/>
                </a:lnTo>
                <a:lnTo>
                  <a:pt x="20626" y="108284"/>
                </a:lnTo>
                <a:lnTo>
                  <a:pt x="7735" y="108284"/>
                </a:lnTo>
                <a:cubicBezTo>
                  <a:pt x="3448" y="108284"/>
                  <a:pt x="0" y="111733"/>
                  <a:pt x="0" y="116019"/>
                </a:cubicBezTo>
                <a:cubicBezTo>
                  <a:pt x="0" y="120305"/>
                  <a:pt x="3448" y="123753"/>
                  <a:pt x="7735" y="123753"/>
                </a:cubicBezTo>
                <a:lnTo>
                  <a:pt x="20626" y="123753"/>
                </a:lnTo>
                <a:cubicBezTo>
                  <a:pt x="20626" y="135130"/>
                  <a:pt x="29875" y="144379"/>
                  <a:pt x="41251" y="144379"/>
                </a:cubicBezTo>
                <a:lnTo>
                  <a:pt x="41251" y="157270"/>
                </a:lnTo>
                <a:cubicBezTo>
                  <a:pt x="41251" y="161556"/>
                  <a:pt x="44699" y="165005"/>
                  <a:pt x="48986" y="165005"/>
                </a:cubicBezTo>
                <a:cubicBezTo>
                  <a:pt x="53272" y="165005"/>
                  <a:pt x="56720" y="161556"/>
                  <a:pt x="56720" y="157270"/>
                </a:cubicBezTo>
                <a:lnTo>
                  <a:pt x="56720" y="144379"/>
                </a:lnTo>
                <a:lnTo>
                  <a:pt x="74768" y="144379"/>
                </a:lnTo>
                <a:lnTo>
                  <a:pt x="74768" y="157270"/>
                </a:lnTo>
                <a:cubicBezTo>
                  <a:pt x="74768" y="161556"/>
                  <a:pt x="78216" y="165005"/>
                  <a:pt x="82502" y="165005"/>
                </a:cubicBezTo>
                <a:cubicBezTo>
                  <a:pt x="86789" y="165005"/>
                  <a:pt x="90237" y="161556"/>
                  <a:pt x="90237" y="157270"/>
                </a:cubicBezTo>
                <a:lnTo>
                  <a:pt x="90237" y="144379"/>
                </a:lnTo>
                <a:lnTo>
                  <a:pt x="108284" y="144379"/>
                </a:lnTo>
                <a:lnTo>
                  <a:pt x="108284" y="157270"/>
                </a:lnTo>
                <a:cubicBezTo>
                  <a:pt x="108284" y="161556"/>
                  <a:pt x="111733" y="165005"/>
                  <a:pt x="116019" y="165005"/>
                </a:cubicBezTo>
                <a:cubicBezTo>
                  <a:pt x="120305" y="165005"/>
                  <a:pt x="123753" y="161556"/>
                  <a:pt x="123753" y="157270"/>
                </a:cubicBezTo>
                <a:lnTo>
                  <a:pt x="123753" y="144379"/>
                </a:lnTo>
                <a:cubicBezTo>
                  <a:pt x="135130" y="144379"/>
                  <a:pt x="144379" y="135130"/>
                  <a:pt x="144379" y="123753"/>
                </a:cubicBezTo>
                <a:lnTo>
                  <a:pt x="157270" y="123753"/>
                </a:lnTo>
                <a:cubicBezTo>
                  <a:pt x="161556" y="123753"/>
                  <a:pt x="165005" y="120305"/>
                  <a:pt x="165005" y="116019"/>
                </a:cubicBezTo>
                <a:cubicBezTo>
                  <a:pt x="165005" y="111733"/>
                  <a:pt x="161556" y="108284"/>
                  <a:pt x="157270" y="108284"/>
                </a:cubicBezTo>
                <a:lnTo>
                  <a:pt x="144379" y="108284"/>
                </a:lnTo>
                <a:lnTo>
                  <a:pt x="144379" y="90237"/>
                </a:lnTo>
                <a:lnTo>
                  <a:pt x="157270" y="90237"/>
                </a:lnTo>
                <a:cubicBezTo>
                  <a:pt x="161556" y="90237"/>
                  <a:pt x="165005" y="86789"/>
                  <a:pt x="165005" y="82502"/>
                </a:cubicBezTo>
                <a:cubicBezTo>
                  <a:pt x="165005" y="78216"/>
                  <a:pt x="161556" y="74768"/>
                  <a:pt x="157270" y="74768"/>
                </a:cubicBezTo>
                <a:lnTo>
                  <a:pt x="144379" y="74768"/>
                </a:lnTo>
                <a:lnTo>
                  <a:pt x="144379" y="56720"/>
                </a:lnTo>
                <a:lnTo>
                  <a:pt x="157270" y="56720"/>
                </a:lnTo>
                <a:cubicBezTo>
                  <a:pt x="161556" y="56720"/>
                  <a:pt x="165005" y="53272"/>
                  <a:pt x="165005" y="48986"/>
                </a:cubicBezTo>
                <a:cubicBezTo>
                  <a:pt x="165005" y="44699"/>
                  <a:pt x="161556" y="41251"/>
                  <a:pt x="157270" y="41251"/>
                </a:cubicBezTo>
                <a:lnTo>
                  <a:pt x="144379" y="41251"/>
                </a:lnTo>
                <a:cubicBezTo>
                  <a:pt x="144379" y="29875"/>
                  <a:pt x="135130" y="20626"/>
                  <a:pt x="123753" y="20626"/>
                </a:cubicBezTo>
                <a:lnTo>
                  <a:pt x="123753" y="7735"/>
                </a:lnTo>
                <a:cubicBezTo>
                  <a:pt x="123753" y="3448"/>
                  <a:pt x="120305" y="0"/>
                  <a:pt x="116019" y="0"/>
                </a:cubicBezTo>
                <a:cubicBezTo>
                  <a:pt x="111733" y="0"/>
                  <a:pt x="108284" y="3448"/>
                  <a:pt x="108284" y="7735"/>
                </a:cubicBezTo>
                <a:lnTo>
                  <a:pt x="108284" y="20626"/>
                </a:lnTo>
                <a:lnTo>
                  <a:pt x="90237" y="20626"/>
                </a:lnTo>
                <a:lnTo>
                  <a:pt x="90237" y="7735"/>
                </a:lnTo>
                <a:cubicBezTo>
                  <a:pt x="90237" y="3448"/>
                  <a:pt x="86789" y="0"/>
                  <a:pt x="82502" y="0"/>
                </a:cubicBezTo>
                <a:cubicBezTo>
                  <a:pt x="78216" y="0"/>
                  <a:pt x="74768" y="3448"/>
                  <a:pt x="74768" y="7735"/>
                </a:cubicBezTo>
                <a:lnTo>
                  <a:pt x="74768" y="20626"/>
                </a:lnTo>
                <a:lnTo>
                  <a:pt x="56720" y="20626"/>
                </a:lnTo>
                <a:lnTo>
                  <a:pt x="56720" y="7735"/>
                </a:lnTo>
                <a:close/>
                <a:moveTo>
                  <a:pt x="51564" y="41251"/>
                </a:moveTo>
                <a:lnTo>
                  <a:pt x="113441" y="41251"/>
                </a:lnTo>
                <a:cubicBezTo>
                  <a:pt x="119145" y="41251"/>
                  <a:pt x="123753" y="45860"/>
                  <a:pt x="123753" y="51564"/>
                </a:cubicBezTo>
                <a:lnTo>
                  <a:pt x="123753" y="113441"/>
                </a:lnTo>
                <a:cubicBezTo>
                  <a:pt x="123753" y="119145"/>
                  <a:pt x="119145" y="123753"/>
                  <a:pt x="113441" y="123753"/>
                </a:cubicBezTo>
                <a:lnTo>
                  <a:pt x="51564" y="123753"/>
                </a:lnTo>
                <a:cubicBezTo>
                  <a:pt x="45860" y="123753"/>
                  <a:pt x="41251" y="119145"/>
                  <a:pt x="41251" y="113441"/>
                </a:cubicBezTo>
                <a:lnTo>
                  <a:pt x="41251" y="51564"/>
                </a:lnTo>
                <a:cubicBezTo>
                  <a:pt x="41251" y="45860"/>
                  <a:pt x="45860" y="41251"/>
                  <a:pt x="51564" y="41251"/>
                </a:cubicBezTo>
                <a:close/>
                <a:moveTo>
                  <a:pt x="56720" y="56720"/>
                </a:moveTo>
                <a:lnTo>
                  <a:pt x="56720" y="108284"/>
                </a:lnTo>
                <a:lnTo>
                  <a:pt x="108284" y="108284"/>
                </a:lnTo>
                <a:lnTo>
                  <a:pt x="108284" y="56720"/>
                </a:lnTo>
                <a:lnTo>
                  <a:pt x="56720" y="56720"/>
                </a:lnTo>
                <a:close/>
              </a:path>
            </a:pathLst>
          </a:custGeom>
          <a:solidFill>
            <a:srgbClr val="F7B538"/>
          </a:solidFill>
        </p:spPr>
        <p:txBody>
          <a:bodyPr/>
          <a:lstStyle/>
          <a:p>
            <a:endParaRPr lang="zh-CN" altLang="en-US" sz="1600"/>
          </a:p>
        </p:txBody>
      </p:sp>
      <p:sp>
        <p:nvSpPr>
          <p:cNvPr id="66" name="Text 22"/>
          <p:cNvSpPr/>
          <p:nvPr/>
        </p:nvSpPr>
        <p:spPr>
          <a:xfrm>
            <a:off x="594703" y="3022861"/>
            <a:ext cx="1939362" cy="1403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 Processing Pipeline</a:t>
            </a:r>
            <a:endParaRPr lang="en-US" sz="1600" dirty="0"/>
          </a:p>
        </p:txBody>
      </p:sp>
      <p:sp>
        <p:nvSpPr>
          <p:cNvPr id="67" name="Text 23"/>
          <p:cNvSpPr/>
          <p:nvPr/>
        </p:nvSpPr>
        <p:spPr>
          <a:xfrm>
            <a:off x="385009" y="3372197"/>
            <a:ext cx="264889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det1</a:t>
            </a:r>
            <a:endParaRPr lang="en-US" sz="1600" dirty="0"/>
          </a:p>
        </p:txBody>
      </p:sp>
      <p:sp>
        <p:nvSpPr>
          <p:cNvPr id="68" name="Text 24"/>
          <p:cNvSpPr/>
          <p:nvPr/>
        </p:nvSpPr>
        <p:spPr>
          <a:xfrm>
            <a:off x="1430198" y="3407925"/>
            <a:ext cx="1466346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detection (OWL-ViT)</a:t>
            </a:r>
            <a:endParaRPr lang="en-US" sz="1600" dirty="0"/>
          </a:p>
        </p:txBody>
      </p:sp>
      <p:sp>
        <p:nvSpPr>
          <p:cNvPr id="69" name="Text 25"/>
          <p:cNvSpPr/>
          <p:nvPr/>
        </p:nvSpPr>
        <p:spPr>
          <a:xfrm>
            <a:off x="385009" y="3523451"/>
            <a:ext cx="35003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hand1</a:t>
            </a:r>
            <a:endParaRPr lang="en-US" sz="1600" dirty="0"/>
          </a:p>
        </p:txBody>
      </p:sp>
      <p:sp>
        <p:nvSpPr>
          <p:cNvPr id="70" name="Text 26"/>
          <p:cNvSpPr/>
          <p:nvPr/>
        </p:nvSpPr>
        <p:spPr>
          <a:xfrm>
            <a:off x="1619403" y="3559179"/>
            <a:ext cx="127714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 detection/tracking</a:t>
            </a:r>
            <a:endParaRPr lang="en-US" sz="1600" dirty="0"/>
          </a:p>
        </p:txBody>
      </p:sp>
      <p:sp>
        <p:nvSpPr>
          <p:cNvPr id="71" name="Text 27"/>
          <p:cNvSpPr/>
          <p:nvPr/>
        </p:nvSpPr>
        <p:spPr>
          <a:xfrm>
            <a:off x="385011" y="3674706"/>
            <a:ext cx="170286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d1</a:t>
            </a:r>
            <a:endParaRPr lang="en-US" sz="1600" dirty="0"/>
          </a:p>
        </p:txBody>
      </p:sp>
      <p:sp>
        <p:nvSpPr>
          <p:cNvPr id="72" name="Text 28"/>
          <p:cNvSpPr/>
          <p:nvPr/>
        </p:nvSpPr>
        <p:spPr>
          <a:xfrm>
            <a:off x="1534261" y="3710434"/>
            <a:ext cx="1362283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Depth estimation (MiDaS)</a:t>
            </a:r>
            <a:endParaRPr lang="en-US" sz="1600" dirty="0"/>
          </a:p>
        </p:txBody>
      </p:sp>
      <p:sp>
        <p:nvSpPr>
          <p:cNvPr id="73" name="Text 29"/>
          <p:cNvSpPr/>
          <p:nvPr/>
        </p:nvSpPr>
        <p:spPr>
          <a:xfrm>
            <a:off x="385011" y="3825960"/>
            <a:ext cx="170286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g1</a:t>
            </a:r>
            <a:endParaRPr lang="en-US" sz="1600" dirty="0"/>
          </a:p>
        </p:txBody>
      </p:sp>
      <p:sp>
        <p:nvSpPr>
          <p:cNvPr id="74" name="Text 30"/>
          <p:cNvSpPr/>
          <p:nvPr/>
        </p:nvSpPr>
        <p:spPr>
          <a:xfrm>
            <a:off x="1799149" y="3861688"/>
            <a:ext cx="1097395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Guidance calculation</a:t>
            </a:r>
            <a:endParaRPr lang="en-US" sz="1600" dirty="0"/>
          </a:p>
        </p:txBody>
      </p:sp>
      <p:sp>
        <p:nvSpPr>
          <p:cNvPr id="75" name="Text 31"/>
          <p:cNvSpPr/>
          <p:nvPr/>
        </p:nvSpPr>
        <p:spPr>
          <a:xfrm>
            <a:off x="385009" y="3977214"/>
            <a:ext cx="33111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proc1</a:t>
            </a:r>
            <a:endParaRPr lang="en-US" sz="1600" dirty="0"/>
          </a:p>
        </p:txBody>
      </p:sp>
      <p:sp>
        <p:nvSpPr>
          <p:cNvPr id="76" name="Text 32"/>
          <p:cNvSpPr/>
          <p:nvPr/>
        </p:nvSpPr>
        <p:spPr>
          <a:xfrm>
            <a:off x="1505880" y="4012942"/>
            <a:ext cx="1390664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algorithm processing</a:t>
            </a:r>
            <a:endParaRPr lang="en-US" sz="1600" dirty="0"/>
          </a:p>
        </p:txBody>
      </p:sp>
      <p:sp>
        <p:nvSpPr>
          <p:cNvPr id="77" name="Text 33"/>
          <p:cNvSpPr/>
          <p:nvPr/>
        </p:nvSpPr>
        <p:spPr>
          <a:xfrm>
            <a:off x="385010" y="4128468"/>
            <a:ext cx="293270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e2e1</a:t>
            </a:r>
            <a:endParaRPr lang="en-US" sz="1600" dirty="0"/>
          </a:p>
        </p:txBody>
      </p:sp>
      <p:sp>
        <p:nvSpPr>
          <p:cNvPr id="78" name="Text 34"/>
          <p:cNvSpPr/>
          <p:nvPr/>
        </p:nvSpPr>
        <p:spPr>
          <a:xfrm>
            <a:off x="1704546" y="4164196"/>
            <a:ext cx="1191998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frame loop</a:t>
            </a:r>
            <a:endParaRPr lang="en-US" sz="1600" dirty="0"/>
          </a:p>
        </p:txBody>
      </p:sp>
      <p:sp>
        <p:nvSpPr>
          <p:cNvPr id="81" name="Shape 37"/>
          <p:cNvSpPr/>
          <p:nvPr/>
        </p:nvSpPr>
        <p:spPr>
          <a:xfrm>
            <a:off x="3302991" y="983748"/>
            <a:ext cx="123754" cy="123754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82502" y="0"/>
                </a:moveTo>
                <a:cubicBezTo>
                  <a:pt x="128036" y="0"/>
                  <a:pt x="165005" y="36968"/>
                  <a:pt x="165005" y="82502"/>
                </a:cubicBezTo>
                <a:cubicBezTo>
                  <a:pt x="165005" y="128036"/>
                  <a:pt x="128036" y="165005"/>
                  <a:pt x="82502" y="165005"/>
                </a:cubicBezTo>
                <a:cubicBezTo>
                  <a:pt x="36968" y="165005"/>
                  <a:pt x="0" y="128036"/>
                  <a:pt x="0" y="82502"/>
                </a:cubicBezTo>
                <a:cubicBezTo>
                  <a:pt x="0" y="36968"/>
                  <a:pt x="36968" y="0"/>
                  <a:pt x="82502" y="0"/>
                </a:cubicBezTo>
                <a:close/>
                <a:moveTo>
                  <a:pt x="74768" y="38673"/>
                </a:moveTo>
                <a:lnTo>
                  <a:pt x="74768" y="82502"/>
                </a:lnTo>
                <a:cubicBezTo>
                  <a:pt x="74768" y="85080"/>
                  <a:pt x="76057" y="87498"/>
                  <a:pt x="78216" y="88948"/>
                </a:cubicBezTo>
                <a:lnTo>
                  <a:pt x="109154" y="109573"/>
                </a:lnTo>
                <a:cubicBezTo>
                  <a:pt x="112699" y="111958"/>
                  <a:pt x="117501" y="110991"/>
                  <a:pt x="119886" y="107414"/>
                </a:cubicBezTo>
                <a:cubicBezTo>
                  <a:pt x="122271" y="103837"/>
                  <a:pt x="121304" y="99067"/>
                  <a:pt x="117727" y="96682"/>
                </a:cubicBezTo>
                <a:lnTo>
                  <a:pt x="90237" y="78377"/>
                </a:lnTo>
                <a:lnTo>
                  <a:pt x="90237" y="38673"/>
                </a:lnTo>
                <a:cubicBezTo>
                  <a:pt x="90237" y="34387"/>
                  <a:pt x="86789" y="30938"/>
                  <a:pt x="82502" y="30938"/>
                </a:cubicBezTo>
                <a:cubicBezTo>
                  <a:pt x="78216" y="30938"/>
                  <a:pt x="74768" y="34387"/>
                  <a:pt x="74768" y="38673"/>
                </a:cubicBezTo>
                <a:close/>
              </a:path>
            </a:pathLst>
          </a:custGeom>
          <a:solidFill>
            <a:srgbClr val="1A535C"/>
          </a:solidFill>
        </p:spPr>
        <p:txBody>
          <a:bodyPr/>
          <a:lstStyle/>
          <a:p>
            <a:endParaRPr lang="zh-CN" altLang="en-US" sz="1600"/>
          </a:p>
        </p:txBody>
      </p:sp>
      <p:sp>
        <p:nvSpPr>
          <p:cNvPr id="82" name="Text 38"/>
          <p:cNvSpPr/>
          <p:nvPr/>
        </p:nvSpPr>
        <p:spPr>
          <a:xfrm>
            <a:off x="3495496" y="963121"/>
            <a:ext cx="1175657" cy="16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Lifecycle Timing</a:t>
            </a:r>
            <a:endParaRPr lang="en-US" sz="1600" dirty="0"/>
          </a:p>
        </p:txBody>
      </p:sp>
      <p:sp>
        <p:nvSpPr>
          <p:cNvPr id="83" name="Text 39"/>
          <p:cNvSpPr/>
          <p:nvPr/>
        </p:nvSpPr>
        <p:spPr>
          <a:xfrm>
            <a:off x="3285801" y="1304890"/>
            <a:ext cx="33111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s2act</a:t>
            </a:r>
            <a:endParaRPr lang="en-US" sz="1600" dirty="0"/>
          </a:p>
        </p:txBody>
      </p:sp>
      <p:sp>
        <p:nvSpPr>
          <p:cNvPr id="84" name="Text 40"/>
          <p:cNvSpPr/>
          <p:nvPr/>
        </p:nvSpPr>
        <p:spPr>
          <a:xfrm>
            <a:off x="4840157" y="1325519"/>
            <a:ext cx="1012252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Search-to-Activate</a:t>
            </a:r>
            <a:endParaRPr lang="en-US" sz="1600" dirty="0"/>
          </a:p>
        </p:txBody>
      </p:sp>
      <p:sp>
        <p:nvSpPr>
          <p:cNvPr id="85" name="Text 41"/>
          <p:cNvSpPr/>
          <p:nvPr/>
        </p:nvSpPr>
        <p:spPr>
          <a:xfrm>
            <a:off x="3285803" y="1456144"/>
            <a:ext cx="737904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task_duration</a:t>
            </a:r>
            <a:endParaRPr lang="en-US" sz="1600" dirty="0"/>
          </a:p>
        </p:txBody>
      </p:sp>
      <p:sp>
        <p:nvSpPr>
          <p:cNvPr id="86" name="Text 42"/>
          <p:cNvSpPr/>
          <p:nvPr/>
        </p:nvSpPr>
        <p:spPr>
          <a:xfrm>
            <a:off x="5010442" y="1476773"/>
            <a:ext cx="841967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Wall-clock time</a:t>
            </a:r>
            <a:endParaRPr lang="en-US" sz="1600" dirty="0"/>
          </a:p>
        </p:txBody>
      </p:sp>
      <p:sp>
        <p:nvSpPr>
          <p:cNvPr id="87" name="Text 43"/>
          <p:cNvSpPr/>
          <p:nvPr/>
        </p:nvSpPr>
        <p:spPr>
          <a:xfrm>
            <a:off x="3285802" y="1607398"/>
            <a:ext cx="283809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sup1</a:t>
            </a:r>
            <a:endParaRPr lang="en-US" sz="1600" dirty="0"/>
          </a:p>
        </p:txBody>
      </p:sp>
      <p:sp>
        <p:nvSpPr>
          <p:cNvPr id="88" name="Text 44"/>
          <p:cNvSpPr/>
          <p:nvPr/>
        </p:nvSpPr>
        <p:spPr>
          <a:xfrm>
            <a:off x="4338761" y="1628027"/>
            <a:ext cx="1513648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Post-suppression processing</a:t>
            </a:r>
            <a:endParaRPr lang="en-US" sz="1600" dirty="0"/>
          </a:p>
        </p:txBody>
      </p:sp>
      <p:sp>
        <p:nvSpPr>
          <p:cNvPr id="89" name="Text 45"/>
          <p:cNvSpPr/>
          <p:nvPr/>
        </p:nvSpPr>
        <p:spPr>
          <a:xfrm>
            <a:off x="3285803" y="1758652"/>
            <a:ext cx="236508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tts1</a:t>
            </a:r>
            <a:endParaRPr lang="en-US" sz="1600" dirty="0"/>
          </a:p>
        </p:txBody>
      </p:sp>
      <p:sp>
        <p:nvSpPr>
          <p:cNvPr id="90" name="Text 46"/>
          <p:cNvSpPr/>
          <p:nvPr/>
        </p:nvSpPr>
        <p:spPr>
          <a:xfrm>
            <a:off x="5019902" y="1779281"/>
            <a:ext cx="832507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TTS offset</a:t>
            </a:r>
            <a:endParaRPr lang="en-US" sz="1600" dirty="0"/>
          </a:p>
        </p:txBody>
      </p:sp>
      <p:sp>
        <p:nvSpPr>
          <p:cNvPr id="91" name="Text 47"/>
          <p:cNvSpPr/>
          <p:nvPr/>
        </p:nvSpPr>
        <p:spPr>
          <a:xfrm>
            <a:off x="3285801" y="1909906"/>
            <a:ext cx="889269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confirm_window</a:t>
            </a:r>
            <a:endParaRPr lang="en-US" sz="1600" dirty="0"/>
          </a:p>
        </p:txBody>
      </p:sp>
      <p:sp>
        <p:nvSpPr>
          <p:cNvPr id="92" name="Text 48"/>
          <p:cNvSpPr/>
          <p:nvPr/>
        </p:nvSpPr>
        <p:spPr>
          <a:xfrm>
            <a:off x="4650951" y="1930535"/>
            <a:ext cx="1201458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Pre-activation duration</a:t>
            </a:r>
            <a:endParaRPr lang="en-US" sz="1600" dirty="0"/>
          </a:p>
        </p:txBody>
      </p:sp>
      <p:sp>
        <p:nvSpPr>
          <p:cNvPr id="95" name="Shape 51"/>
          <p:cNvSpPr/>
          <p:nvPr/>
        </p:nvSpPr>
        <p:spPr>
          <a:xfrm>
            <a:off x="3302991" y="3037316"/>
            <a:ext cx="123754" cy="140321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0" y="82502"/>
                </a:moveTo>
                <a:cubicBezTo>
                  <a:pt x="0" y="36968"/>
                  <a:pt x="36968" y="0"/>
                  <a:pt x="82502" y="0"/>
                </a:cubicBezTo>
                <a:cubicBezTo>
                  <a:pt x="128036" y="0"/>
                  <a:pt x="165005" y="36968"/>
                  <a:pt x="165005" y="82502"/>
                </a:cubicBezTo>
                <a:cubicBezTo>
                  <a:pt x="165005" y="128036"/>
                  <a:pt x="128036" y="165005"/>
                  <a:pt x="82502" y="165005"/>
                </a:cubicBezTo>
                <a:cubicBezTo>
                  <a:pt x="36968" y="165005"/>
                  <a:pt x="0" y="128036"/>
                  <a:pt x="0" y="82502"/>
                </a:cubicBezTo>
                <a:close/>
                <a:moveTo>
                  <a:pt x="92815" y="30938"/>
                </a:moveTo>
                <a:cubicBezTo>
                  <a:pt x="92815" y="25247"/>
                  <a:pt x="88194" y="20626"/>
                  <a:pt x="82502" y="20626"/>
                </a:cubicBezTo>
                <a:cubicBezTo>
                  <a:pt x="76810" y="20626"/>
                  <a:pt x="72189" y="25247"/>
                  <a:pt x="72189" y="30938"/>
                </a:cubicBezTo>
                <a:cubicBezTo>
                  <a:pt x="72189" y="36630"/>
                  <a:pt x="76810" y="41251"/>
                  <a:pt x="82502" y="41251"/>
                </a:cubicBezTo>
                <a:cubicBezTo>
                  <a:pt x="88194" y="41251"/>
                  <a:pt x="92815" y="36630"/>
                  <a:pt x="92815" y="30938"/>
                </a:cubicBezTo>
                <a:close/>
                <a:moveTo>
                  <a:pt x="82502" y="134066"/>
                </a:moveTo>
                <a:cubicBezTo>
                  <a:pt x="93879" y="134066"/>
                  <a:pt x="103128" y="124817"/>
                  <a:pt x="103128" y="113441"/>
                </a:cubicBezTo>
                <a:cubicBezTo>
                  <a:pt x="103128" y="108220"/>
                  <a:pt x="101194" y="103418"/>
                  <a:pt x="97971" y="99808"/>
                </a:cubicBezTo>
                <a:lnTo>
                  <a:pt x="120370" y="55044"/>
                </a:lnTo>
                <a:cubicBezTo>
                  <a:pt x="122271" y="51209"/>
                  <a:pt x="120724" y="46569"/>
                  <a:pt x="116921" y="44667"/>
                </a:cubicBezTo>
                <a:cubicBezTo>
                  <a:pt x="113118" y="42766"/>
                  <a:pt x="108445" y="44313"/>
                  <a:pt x="106544" y="48116"/>
                </a:cubicBezTo>
                <a:lnTo>
                  <a:pt x="84146" y="92879"/>
                </a:lnTo>
                <a:cubicBezTo>
                  <a:pt x="83598" y="92847"/>
                  <a:pt x="83050" y="92815"/>
                  <a:pt x="82502" y="92815"/>
                </a:cubicBezTo>
                <a:cubicBezTo>
                  <a:pt x="71126" y="92815"/>
                  <a:pt x="61877" y="102064"/>
                  <a:pt x="61877" y="113441"/>
                </a:cubicBezTo>
                <a:cubicBezTo>
                  <a:pt x="61877" y="124817"/>
                  <a:pt x="71126" y="134066"/>
                  <a:pt x="82502" y="134066"/>
                </a:cubicBezTo>
                <a:close/>
                <a:moveTo>
                  <a:pt x="56720" y="46408"/>
                </a:moveTo>
                <a:cubicBezTo>
                  <a:pt x="56720" y="40716"/>
                  <a:pt x="52099" y="36095"/>
                  <a:pt x="46408" y="36095"/>
                </a:cubicBezTo>
                <a:cubicBezTo>
                  <a:pt x="40716" y="36095"/>
                  <a:pt x="36095" y="40716"/>
                  <a:pt x="36095" y="46408"/>
                </a:cubicBezTo>
                <a:cubicBezTo>
                  <a:pt x="36095" y="52099"/>
                  <a:pt x="40716" y="56720"/>
                  <a:pt x="46408" y="56720"/>
                </a:cubicBezTo>
                <a:cubicBezTo>
                  <a:pt x="52099" y="56720"/>
                  <a:pt x="56720" y="52099"/>
                  <a:pt x="56720" y="46408"/>
                </a:cubicBezTo>
                <a:close/>
                <a:moveTo>
                  <a:pt x="30938" y="92815"/>
                </a:moveTo>
                <a:cubicBezTo>
                  <a:pt x="36630" y="92815"/>
                  <a:pt x="41251" y="88194"/>
                  <a:pt x="41251" y="82502"/>
                </a:cubicBezTo>
                <a:cubicBezTo>
                  <a:pt x="41251" y="76810"/>
                  <a:pt x="36630" y="72189"/>
                  <a:pt x="30938" y="72189"/>
                </a:cubicBezTo>
                <a:cubicBezTo>
                  <a:pt x="25247" y="72189"/>
                  <a:pt x="20626" y="76810"/>
                  <a:pt x="20626" y="82502"/>
                </a:cubicBezTo>
                <a:cubicBezTo>
                  <a:pt x="20626" y="88194"/>
                  <a:pt x="25247" y="92815"/>
                  <a:pt x="30938" y="92815"/>
                </a:cubicBezTo>
                <a:close/>
                <a:moveTo>
                  <a:pt x="144379" y="82502"/>
                </a:moveTo>
                <a:cubicBezTo>
                  <a:pt x="144379" y="76810"/>
                  <a:pt x="139758" y="72189"/>
                  <a:pt x="134066" y="72189"/>
                </a:cubicBezTo>
                <a:cubicBezTo>
                  <a:pt x="128374" y="72189"/>
                  <a:pt x="123753" y="76810"/>
                  <a:pt x="123753" y="82502"/>
                </a:cubicBezTo>
                <a:cubicBezTo>
                  <a:pt x="123753" y="88194"/>
                  <a:pt x="128374" y="92815"/>
                  <a:pt x="134066" y="92815"/>
                </a:cubicBezTo>
                <a:cubicBezTo>
                  <a:pt x="139758" y="92815"/>
                  <a:pt x="144379" y="88194"/>
                  <a:pt x="144379" y="82502"/>
                </a:cubicBezTo>
                <a:close/>
              </a:path>
            </a:pathLst>
          </a:custGeom>
          <a:solidFill>
            <a:srgbClr val="F7B538"/>
          </a:solidFill>
        </p:spPr>
        <p:txBody>
          <a:bodyPr/>
          <a:lstStyle/>
          <a:p>
            <a:endParaRPr lang="zh-CN" altLang="en-US" sz="1600"/>
          </a:p>
        </p:txBody>
      </p:sp>
      <p:sp>
        <p:nvSpPr>
          <p:cNvPr id="96" name="Text 52"/>
          <p:cNvSpPr/>
          <p:nvPr/>
        </p:nvSpPr>
        <p:spPr>
          <a:xfrm>
            <a:off x="3495496" y="3022861"/>
            <a:ext cx="1513648" cy="1403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FPS &amp; Latency Stats</a:t>
            </a:r>
            <a:endParaRPr lang="en-US" sz="1600" dirty="0"/>
          </a:p>
        </p:txBody>
      </p:sp>
      <p:sp>
        <p:nvSpPr>
          <p:cNvPr id="97" name="Text 53"/>
          <p:cNvSpPr/>
          <p:nvPr/>
        </p:nvSpPr>
        <p:spPr>
          <a:xfrm>
            <a:off x="3285803" y="3372197"/>
            <a:ext cx="454094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fps_avg</a:t>
            </a:r>
            <a:endParaRPr lang="en-US" sz="1600" dirty="0"/>
          </a:p>
        </p:txBody>
      </p:sp>
      <p:sp>
        <p:nvSpPr>
          <p:cNvPr id="98" name="Text 54"/>
          <p:cNvSpPr/>
          <p:nvPr/>
        </p:nvSpPr>
        <p:spPr>
          <a:xfrm>
            <a:off x="4575268" y="3362376"/>
            <a:ext cx="127714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processing FPS</a:t>
            </a:r>
            <a:endParaRPr lang="en-US" sz="1600" dirty="0"/>
          </a:p>
        </p:txBody>
      </p:sp>
      <p:sp>
        <p:nvSpPr>
          <p:cNvPr id="99" name="Text 55"/>
          <p:cNvSpPr/>
          <p:nvPr/>
        </p:nvSpPr>
        <p:spPr>
          <a:xfrm>
            <a:off x="3285803" y="3523451"/>
            <a:ext cx="482476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e2e_avg</a:t>
            </a:r>
            <a:endParaRPr lang="en-US" sz="1600" dirty="0"/>
          </a:p>
        </p:txBody>
      </p:sp>
      <p:sp>
        <p:nvSpPr>
          <p:cNvPr id="100" name="Text 56"/>
          <p:cNvSpPr/>
          <p:nvPr/>
        </p:nvSpPr>
        <p:spPr>
          <a:xfrm>
            <a:off x="4556348" y="3513630"/>
            <a:ext cx="129606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end-to-end FPS</a:t>
            </a:r>
            <a:endParaRPr lang="en-US" sz="1600" dirty="0"/>
          </a:p>
        </p:txBody>
      </p:sp>
      <p:sp>
        <p:nvSpPr>
          <p:cNvPr id="101" name="Text 57"/>
          <p:cNvSpPr/>
          <p:nvPr/>
        </p:nvSpPr>
        <p:spPr>
          <a:xfrm>
            <a:off x="3285801" y="3674706"/>
            <a:ext cx="264889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p50</a:t>
            </a:r>
            <a:endParaRPr lang="en-US" sz="1600" dirty="0"/>
          </a:p>
        </p:txBody>
      </p:sp>
      <p:sp>
        <p:nvSpPr>
          <p:cNvPr id="102" name="Text 58"/>
          <p:cNvSpPr/>
          <p:nvPr/>
        </p:nvSpPr>
        <p:spPr>
          <a:xfrm>
            <a:off x="4603649" y="3664885"/>
            <a:ext cx="1248760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time median</a:t>
            </a:r>
            <a:endParaRPr lang="en-US" sz="1600" dirty="0"/>
          </a:p>
        </p:txBody>
      </p:sp>
      <p:sp>
        <p:nvSpPr>
          <p:cNvPr id="103" name="Text 59"/>
          <p:cNvSpPr/>
          <p:nvPr/>
        </p:nvSpPr>
        <p:spPr>
          <a:xfrm>
            <a:off x="3285803" y="3825960"/>
            <a:ext cx="255428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p95</a:t>
            </a:r>
            <a:endParaRPr lang="en-US" sz="1600" dirty="0"/>
          </a:p>
        </p:txBody>
      </p:sp>
      <p:sp>
        <p:nvSpPr>
          <p:cNvPr id="104" name="Text 60"/>
          <p:cNvSpPr/>
          <p:nvPr/>
        </p:nvSpPr>
        <p:spPr>
          <a:xfrm>
            <a:off x="5038824" y="3816139"/>
            <a:ext cx="813585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95th percentile</a:t>
            </a:r>
            <a:endParaRPr lang="en-US" sz="1600" dirty="0"/>
          </a:p>
        </p:txBody>
      </p:sp>
      <p:sp>
        <p:nvSpPr>
          <p:cNvPr id="105" name="Text 61"/>
          <p:cNvSpPr/>
          <p:nvPr/>
        </p:nvSpPr>
        <p:spPr>
          <a:xfrm>
            <a:off x="3285802" y="3977214"/>
            <a:ext cx="283809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jitter</a:t>
            </a:r>
            <a:endParaRPr lang="en-US" sz="1600" dirty="0"/>
          </a:p>
        </p:txBody>
      </p:sp>
      <p:sp>
        <p:nvSpPr>
          <p:cNvPr id="106" name="Text 62"/>
          <p:cNvSpPr/>
          <p:nvPr/>
        </p:nvSpPr>
        <p:spPr>
          <a:xfrm>
            <a:off x="4859077" y="3967393"/>
            <a:ext cx="993332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deviation</a:t>
            </a:r>
            <a:endParaRPr lang="en-US" sz="1600" dirty="0"/>
          </a:p>
        </p:txBody>
      </p:sp>
      <p:sp>
        <p:nvSpPr>
          <p:cNvPr id="107" name="Text 63"/>
          <p:cNvSpPr/>
          <p:nvPr/>
        </p:nvSpPr>
        <p:spPr>
          <a:xfrm>
            <a:off x="3285803" y="4128468"/>
            <a:ext cx="444634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det_run</a:t>
            </a:r>
            <a:endParaRPr lang="en-US" sz="1600" dirty="0"/>
          </a:p>
        </p:txBody>
      </p:sp>
      <p:sp>
        <p:nvSpPr>
          <p:cNvPr id="108" name="Text 64"/>
          <p:cNvSpPr/>
          <p:nvPr/>
        </p:nvSpPr>
        <p:spPr>
          <a:xfrm>
            <a:off x="4575268" y="4118647"/>
            <a:ext cx="127714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execution rate</a:t>
            </a:r>
            <a:endParaRPr lang="en-US" sz="1600" dirty="0"/>
          </a:p>
        </p:txBody>
      </p:sp>
      <p:sp>
        <p:nvSpPr>
          <p:cNvPr id="109" name="Text 65"/>
          <p:cNvSpPr/>
          <p:nvPr/>
        </p:nvSpPr>
        <p:spPr>
          <a:xfrm>
            <a:off x="3285803" y="4279722"/>
            <a:ext cx="567618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depth_run</a:t>
            </a:r>
            <a:endParaRPr lang="en-US" sz="1600" dirty="0"/>
          </a:p>
        </p:txBody>
      </p:sp>
      <p:sp>
        <p:nvSpPr>
          <p:cNvPr id="110" name="Text 66"/>
          <p:cNvSpPr/>
          <p:nvPr/>
        </p:nvSpPr>
        <p:spPr>
          <a:xfrm>
            <a:off x="4717173" y="4269901"/>
            <a:ext cx="1135236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Depth estimation rate</a:t>
            </a:r>
            <a:endParaRPr lang="en-US" sz="1600" dirty="0"/>
          </a:p>
        </p:txBody>
      </p:sp>
      <p:sp>
        <p:nvSpPr>
          <p:cNvPr id="113" name="Shape 69"/>
          <p:cNvSpPr/>
          <p:nvPr/>
        </p:nvSpPr>
        <p:spPr>
          <a:xfrm>
            <a:off x="6288970" y="1001630"/>
            <a:ext cx="108284" cy="123754"/>
          </a:xfrm>
          <a:custGeom>
            <a:avLst/>
            <a:gdLst/>
            <a:ahLst/>
            <a:cxnLst/>
            <a:rect l="l" t="t" r="r" b="b"/>
            <a:pathLst>
              <a:path w="144379" h="165005">
                <a:moveTo>
                  <a:pt x="20626" y="10313"/>
                </a:moveTo>
                <a:cubicBezTo>
                  <a:pt x="9249" y="10313"/>
                  <a:pt x="0" y="19562"/>
                  <a:pt x="0" y="30938"/>
                </a:cubicBezTo>
                <a:lnTo>
                  <a:pt x="0" y="51564"/>
                </a:lnTo>
                <a:cubicBezTo>
                  <a:pt x="0" y="62940"/>
                  <a:pt x="9249" y="72189"/>
                  <a:pt x="20626" y="72189"/>
                </a:cubicBezTo>
                <a:lnTo>
                  <a:pt x="123753" y="72189"/>
                </a:lnTo>
                <a:cubicBezTo>
                  <a:pt x="135130" y="72189"/>
                  <a:pt x="144379" y="62940"/>
                  <a:pt x="144379" y="51564"/>
                </a:cubicBezTo>
                <a:lnTo>
                  <a:pt x="144379" y="30938"/>
                </a:lnTo>
                <a:cubicBezTo>
                  <a:pt x="144379" y="19562"/>
                  <a:pt x="135130" y="10313"/>
                  <a:pt x="123753" y="10313"/>
                </a:cubicBezTo>
                <a:lnTo>
                  <a:pt x="20626" y="10313"/>
                </a:lnTo>
                <a:close/>
                <a:moveTo>
                  <a:pt x="90237" y="33517"/>
                </a:moveTo>
                <a:cubicBezTo>
                  <a:pt x="94506" y="33517"/>
                  <a:pt x="97971" y="36982"/>
                  <a:pt x="97971" y="41251"/>
                </a:cubicBezTo>
                <a:cubicBezTo>
                  <a:pt x="97971" y="45520"/>
                  <a:pt x="94506" y="48986"/>
                  <a:pt x="90237" y="48986"/>
                </a:cubicBezTo>
                <a:cubicBezTo>
                  <a:pt x="85968" y="48986"/>
                  <a:pt x="82502" y="45520"/>
                  <a:pt x="82502" y="41251"/>
                </a:cubicBezTo>
                <a:cubicBezTo>
                  <a:pt x="82502" y="36982"/>
                  <a:pt x="85968" y="33517"/>
                  <a:pt x="90237" y="33517"/>
                </a:cubicBezTo>
                <a:close/>
                <a:moveTo>
                  <a:pt x="108284" y="41251"/>
                </a:moveTo>
                <a:cubicBezTo>
                  <a:pt x="108284" y="36982"/>
                  <a:pt x="111750" y="33517"/>
                  <a:pt x="116019" y="33517"/>
                </a:cubicBezTo>
                <a:cubicBezTo>
                  <a:pt x="120288" y="33517"/>
                  <a:pt x="123753" y="36982"/>
                  <a:pt x="123753" y="41251"/>
                </a:cubicBezTo>
                <a:cubicBezTo>
                  <a:pt x="123753" y="45520"/>
                  <a:pt x="120288" y="48986"/>
                  <a:pt x="116019" y="48986"/>
                </a:cubicBezTo>
                <a:cubicBezTo>
                  <a:pt x="111750" y="48986"/>
                  <a:pt x="108284" y="45520"/>
                  <a:pt x="108284" y="41251"/>
                </a:cubicBezTo>
                <a:close/>
                <a:moveTo>
                  <a:pt x="20626" y="92815"/>
                </a:moveTo>
                <a:cubicBezTo>
                  <a:pt x="9249" y="92815"/>
                  <a:pt x="0" y="102064"/>
                  <a:pt x="0" y="113441"/>
                </a:cubicBezTo>
                <a:lnTo>
                  <a:pt x="0" y="134066"/>
                </a:lnTo>
                <a:cubicBezTo>
                  <a:pt x="0" y="145442"/>
                  <a:pt x="9249" y="154692"/>
                  <a:pt x="20626" y="154692"/>
                </a:cubicBezTo>
                <a:lnTo>
                  <a:pt x="123753" y="154692"/>
                </a:lnTo>
                <a:cubicBezTo>
                  <a:pt x="135130" y="154692"/>
                  <a:pt x="144379" y="145442"/>
                  <a:pt x="144379" y="134066"/>
                </a:cubicBezTo>
                <a:lnTo>
                  <a:pt x="144379" y="113441"/>
                </a:lnTo>
                <a:cubicBezTo>
                  <a:pt x="144379" y="102064"/>
                  <a:pt x="135130" y="92815"/>
                  <a:pt x="123753" y="92815"/>
                </a:cubicBezTo>
                <a:lnTo>
                  <a:pt x="20626" y="92815"/>
                </a:lnTo>
                <a:close/>
                <a:moveTo>
                  <a:pt x="90237" y="116019"/>
                </a:moveTo>
                <a:cubicBezTo>
                  <a:pt x="94506" y="116019"/>
                  <a:pt x="97971" y="119485"/>
                  <a:pt x="97971" y="123753"/>
                </a:cubicBezTo>
                <a:cubicBezTo>
                  <a:pt x="97971" y="128022"/>
                  <a:pt x="94506" y="131488"/>
                  <a:pt x="90237" y="131488"/>
                </a:cubicBezTo>
                <a:cubicBezTo>
                  <a:pt x="85968" y="131488"/>
                  <a:pt x="82502" y="128022"/>
                  <a:pt x="82502" y="123753"/>
                </a:cubicBezTo>
                <a:cubicBezTo>
                  <a:pt x="82502" y="119485"/>
                  <a:pt x="85968" y="116019"/>
                  <a:pt x="90237" y="116019"/>
                </a:cubicBezTo>
                <a:close/>
                <a:moveTo>
                  <a:pt x="108284" y="123753"/>
                </a:moveTo>
                <a:cubicBezTo>
                  <a:pt x="108284" y="119485"/>
                  <a:pt x="111750" y="116019"/>
                  <a:pt x="116019" y="116019"/>
                </a:cubicBezTo>
                <a:cubicBezTo>
                  <a:pt x="120288" y="116019"/>
                  <a:pt x="123753" y="119485"/>
                  <a:pt x="123753" y="123753"/>
                </a:cubicBezTo>
                <a:cubicBezTo>
                  <a:pt x="123753" y="128022"/>
                  <a:pt x="120288" y="131488"/>
                  <a:pt x="116019" y="131488"/>
                </a:cubicBezTo>
                <a:cubicBezTo>
                  <a:pt x="111750" y="131488"/>
                  <a:pt x="108284" y="128022"/>
                  <a:pt x="108284" y="123753"/>
                </a:cubicBezTo>
                <a:close/>
              </a:path>
            </a:pathLst>
          </a:custGeom>
          <a:solidFill>
            <a:srgbClr val="1A535C"/>
          </a:solidFill>
        </p:spPr>
        <p:txBody>
          <a:bodyPr/>
          <a:lstStyle/>
          <a:p>
            <a:endParaRPr lang="zh-CN" altLang="en-US" sz="1600"/>
          </a:p>
        </p:txBody>
      </p:sp>
      <p:sp>
        <p:nvSpPr>
          <p:cNvPr id="114" name="Text 70"/>
          <p:cNvSpPr/>
          <p:nvPr/>
        </p:nvSpPr>
        <p:spPr>
          <a:xfrm>
            <a:off x="6473740" y="981003"/>
            <a:ext cx="1127531" cy="16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Monitoring</a:t>
            </a:r>
            <a:endParaRPr lang="en-US" sz="1600" dirty="0"/>
          </a:p>
        </p:txBody>
      </p:sp>
      <p:sp>
        <p:nvSpPr>
          <p:cNvPr id="115" name="Text 71"/>
          <p:cNvSpPr/>
          <p:nvPr/>
        </p:nvSpPr>
        <p:spPr>
          <a:xfrm>
            <a:off x="6264047" y="1322772"/>
            <a:ext cx="245968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</a:t>
            </a:r>
            <a:endParaRPr lang="en-US" sz="1600" dirty="0"/>
          </a:p>
        </p:txBody>
      </p:sp>
      <p:sp>
        <p:nvSpPr>
          <p:cNvPr id="116" name="Text 72"/>
          <p:cNvSpPr/>
          <p:nvPr/>
        </p:nvSpPr>
        <p:spPr>
          <a:xfrm>
            <a:off x="7619199" y="1336967"/>
            <a:ext cx="1220378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CPU utilization</a:t>
            </a:r>
            <a:endParaRPr lang="en-US" sz="1600" dirty="0"/>
          </a:p>
        </p:txBody>
      </p:sp>
      <p:sp>
        <p:nvSpPr>
          <p:cNvPr id="117" name="Text 73"/>
          <p:cNvSpPr/>
          <p:nvPr/>
        </p:nvSpPr>
        <p:spPr>
          <a:xfrm>
            <a:off x="6264047" y="1474026"/>
            <a:ext cx="312190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</a:t>
            </a:r>
            <a:endParaRPr lang="en-US" sz="1600" dirty="0"/>
          </a:p>
        </p:txBody>
      </p:sp>
      <p:sp>
        <p:nvSpPr>
          <p:cNvPr id="118" name="Text 74"/>
          <p:cNvSpPr/>
          <p:nvPr/>
        </p:nvSpPr>
        <p:spPr>
          <a:xfrm>
            <a:off x="7600277" y="1488221"/>
            <a:ext cx="1239300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Resident Set Size (RSS)</a:t>
            </a:r>
            <a:endParaRPr lang="en-US" sz="1600" dirty="0"/>
          </a:p>
        </p:txBody>
      </p:sp>
      <p:sp>
        <p:nvSpPr>
          <p:cNvPr id="119" name="Text 75"/>
          <p:cNvSpPr/>
          <p:nvPr/>
        </p:nvSpPr>
        <p:spPr>
          <a:xfrm>
            <a:off x="6264047" y="1625280"/>
            <a:ext cx="245968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</a:t>
            </a:r>
            <a:endParaRPr lang="en-US" sz="1600" dirty="0"/>
          </a:p>
        </p:txBody>
      </p:sp>
      <p:sp>
        <p:nvSpPr>
          <p:cNvPr id="120" name="Text 76"/>
          <p:cNvSpPr/>
          <p:nvPr/>
        </p:nvSpPr>
        <p:spPr>
          <a:xfrm>
            <a:off x="7552976" y="1639475"/>
            <a:ext cx="128660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allocated memory</a:t>
            </a:r>
            <a:endParaRPr lang="en-US" sz="1600" dirty="0"/>
          </a:p>
        </p:txBody>
      </p:sp>
      <p:sp>
        <p:nvSpPr>
          <p:cNvPr id="121" name="Text 77"/>
          <p:cNvSpPr/>
          <p:nvPr/>
        </p:nvSpPr>
        <p:spPr>
          <a:xfrm>
            <a:off x="6264047" y="1776534"/>
            <a:ext cx="293270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net↑</a:t>
            </a:r>
            <a:endParaRPr lang="en-US" sz="1600" dirty="0"/>
          </a:p>
        </p:txBody>
      </p:sp>
      <p:sp>
        <p:nvSpPr>
          <p:cNvPr id="122" name="Text 78"/>
          <p:cNvSpPr/>
          <p:nvPr/>
        </p:nvSpPr>
        <p:spPr>
          <a:xfrm>
            <a:off x="7411071" y="1790729"/>
            <a:ext cx="1428506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upload throughput</a:t>
            </a:r>
            <a:endParaRPr lang="en-US" sz="1600" dirty="0"/>
          </a:p>
        </p:txBody>
      </p:sp>
      <p:sp>
        <p:nvSpPr>
          <p:cNvPr id="123" name="Text 79"/>
          <p:cNvSpPr/>
          <p:nvPr/>
        </p:nvSpPr>
        <p:spPr>
          <a:xfrm>
            <a:off x="6264047" y="1927788"/>
            <a:ext cx="293270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net↓</a:t>
            </a:r>
            <a:endParaRPr lang="en-US" sz="1600" dirty="0"/>
          </a:p>
        </p:txBody>
      </p:sp>
      <p:sp>
        <p:nvSpPr>
          <p:cNvPr id="124" name="Text 80"/>
          <p:cNvSpPr/>
          <p:nvPr/>
        </p:nvSpPr>
        <p:spPr>
          <a:xfrm>
            <a:off x="7259708" y="1941983"/>
            <a:ext cx="1579869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download throughput</a:t>
            </a:r>
            <a:endParaRPr lang="en-US" sz="1600" dirty="0"/>
          </a:p>
        </p:txBody>
      </p:sp>
      <p:sp>
        <p:nvSpPr>
          <p:cNvPr id="127" name="Shape 83"/>
          <p:cNvSpPr/>
          <p:nvPr/>
        </p:nvSpPr>
        <p:spPr>
          <a:xfrm>
            <a:off x="6296704" y="3119817"/>
            <a:ext cx="100550" cy="135447"/>
          </a:xfrm>
          <a:custGeom>
            <a:avLst/>
            <a:gdLst/>
            <a:ahLst/>
            <a:cxnLst/>
            <a:rect l="l" t="t" r="r" b="b"/>
            <a:pathLst>
              <a:path w="123753" h="165005">
                <a:moveTo>
                  <a:pt x="61877" y="0"/>
                </a:moveTo>
                <a:cubicBezTo>
                  <a:pt x="44796" y="0"/>
                  <a:pt x="30938" y="13858"/>
                  <a:pt x="30938" y="30938"/>
                </a:cubicBezTo>
                <a:lnTo>
                  <a:pt x="30938" y="72189"/>
                </a:lnTo>
                <a:cubicBezTo>
                  <a:pt x="30938" y="89270"/>
                  <a:pt x="44796" y="103128"/>
                  <a:pt x="61877" y="103128"/>
                </a:cubicBezTo>
                <a:cubicBezTo>
                  <a:pt x="78957" y="103128"/>
                  <a:pt x="92815" y="89270"/>
                  <a:pt x="92815" y="72189"/>
                </a:cubicBezTo>
                <a:lnTo>
                  <a:pt x="92815" y="30938"/>
                </a:lnTo>
                <a:cubicBezTo>
                  <a:pt x="92815" y="13858"/>
                  <a:pt x="78957" y="0"/>
                  <a:pt x="61877" y="0"/>
                </a:cubicBezTo>
                <a:close/>
                <a:moveTo>
                  <a:pt x="15469" y="59298"/>
                </a:moveTo>
                <a:cubicBezTo>
                  <a:pt x="15469" y="55012"/>
                  <a:pt x="12021" y="51564"/>
                  <a:pt x="7735" y="51564"/>
                </a:cubicBezTo>
                <a:cubicBezTo>
                  <a:pt x="3448" y="51564"/>
                  <a:pt x="0" y="55012"/>
                  <a:pt x="0" y="59298"/>
                </a:cubicBezTo>
                <a:lnTo>
                  <a:pt x="0" y="72189"/>
                </a:lnTo>
                <a:cubicBezTo>
                  <a:pt x="0" y="103740"/>
                  <a:pt x="23623" y="129780"/>
                  <a:pt x="54142" y="133583"/>
                </a:cubicBezTo>
                <a:lnTo>
                  <a:pt x="54142" y="149535"/>
                </a:lnTo>
                <a:lnTo>
                  <a:pt x="38673" y="149535"/>
                </a:lnTo>
                <a:cubicBezTo>
                  <a:pt x="34387" y="149535"/>
                  <a:pt x="30938" y="152984"/>
                  <a:pt x="30938" y="157270"/>
                </a:cubicBezTo>
                <a:cubicBezTo>
                  <a:pt x="30938" y="161556"/>
                  <a:pt x="34387" y="165005"/>
                  <a:pt x="38673" y="165005"/>
                </a:cubicBezTo>
                <a:lnTo>
                  <a:pt x="85080" y="165005"/>
                </a:lnTo>
                <a:cubicBezTo>
                  <a:pt x="89367" y="165005"/>
                  <a:pt x="92815" y="161556"/>
                  <a:pt x="92815" y="157270"/>
                </a:cubicBezTo>
                <a:cubicBezTo>
                  <a:pt x="92815" y="152984"/>
                  <a:pt x="89367" y="149535"/>
                  <a:pt x="85080" y="149535"/>
                </a:cubicBezTo>
                <a:lnTo>
                  <a:pt x="69611" y="149535"/>
                </a:lnTo>
                <a:lnTo>
                  <a:pt x="69611" y="133583"/>
                </a:lnTo>
                <a:cubicBezTo>
                  <a:pt x="100131" y="129780"/>
                  <a:pt x="123753" y="103740"/>
                  <a:pt x="123753" y="72189"/>
                </a:cubicBezTo>
                <a:lnTo>
                  <a:pt x="123753" y="59298"/>
                </a:lnTo>
                <a:cubicBezTo>
                  <a:pt x="123753" y="55012"/>
                  <a:pt x="120305" y="51564"/>
                  <a:pt x="116019" y="51564"/>
                </a:cubicBezTo>
                <a:cubicBezTo>
                  <a:pt x="111733" y="51564"/>
                  <a:pt x="108284" y="55012"/>
                  <a:pt x="108284" y="59298"/>
                </a:cubicBezTo>
                <a:lnTo>
                  <a:pt x="108284" y="72189"/>
                </a:lnTo>
                <a:cubicBezTo>
                  <a:pt x="108284" y="97810"/>
                  <a:pt x="87498" y="118597"/>
                  <a:pt x="61877" y="118597"/>
                </a:cubicBezTo>
                <a:cubicBezTo>
                  <a:pt x="36256" y="118597"/>
                  <a:pt x="15469" y="97810"/>
                  <a:pt x="15469" y="72189"/>
                </a:cubicBezTo>
                <a:lnTo>
                  <a:pt x="15469" y="59298"/>
                </a:lnTo>
                <a:close/>
              </a:path>
            </a:pathLst>
          </a:custGeom>
          <a:solidFill>
            <a:srgbClr val="F7B538"/>
          </a:solidFill>
        </p:spPr>
        <p:txBody>
          <a:bodyPr/>
          <a:lstStyle/>
          <a:p>
            <a:endParaRPr lang="zh-CN" altLang="en-US" sz="1600"/>
          </a:p>
        </p:txBody>
      </p:sp>
      <p:sp>
        <p:nvSpPr>
          <p:cNvPr id="128" name="Text 84"/>
          <p:cNvSpPr/>
          <p:nvPr/>
        </p:nvSpPr>
        <p:spPr>
          <a:xfrm>
            <a:off x="6473739" y="3105363"/>
            <a:ext cx="1050093" cy="1403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Metrics</a:t>
            </a:r>
            <a:endParaRPr lang="en-US" sz="1600" dirty="0"/>
          </a:p>
        </p:txBody>
      </p:sp>
      <p:sp>
        <p:nvSpPr>
          <p:cNvPr id="129" name="Text 85"/>
          <p:cNvSpPr/>
          <p:nvPr/>
        </p:nvSpPr>
        <p:spPr>
          <a:xfrm>
            <a:off x="6264047" y="3454699"/>
            <a:ext cx="245968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poe</a:t>
            </a:r>
            <a:endParaRPr lang="en-US" sz="1600" dirty="0"/>
          </a:p>
        </p:txBody>
      </p:sp>
      <p:sp>
        <p:nvSpPr>
          <p:cNvPr id="130" name="Text 86"/>
          <p:cNvSpPr/>
          <p:nvPr/>
        </p:nvSpPr>
        <p:spPr>
          <a:xfrm>
            <a:off x="7874625" y="3468894"/>
            <a:ext cx="964952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Poe vision parsing</a:t>
            </a:r>
            <a:endParaRPr lang="en-US" sz="1600" dirty="0"/>
          </a:p>
        </p:txBody>
      </p:sp>
      <p:sp>
        <p:nvSpPr>
          <p:cNvPr id="131" name="Text 87"/>
          <p:cNvSpPr/>
          <p:nvPr/>
        </p:nvSpPr>
        <p:spPr>
          <a:xfrm>
            <a:off x="6264047" y="3605953"/>
            <a:ext cx="633839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asr_latency</a:t>
            </a:r>
            <a:endParaRPr lang="en-US" sz="1600" dirty="0"/>
          </a:p>
        </p:txBody>
      </p:sp>
      <p:sp>
        <p:nvSpPr>
          <p:cNvPr id="132" name="Text 88"/>
          <p:cNvSpPr/>
          <p:nvPr/>
        </p:nvSpPr>
        <p:spPr>
          <a:xfrm>
            <a:off x="7562436" y="3620148"/>
            <a:ext cx="127714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recognition time</a:t>
            </a:r>
            <a:endParaRPr lang="en-US" sz="1600" dirty="0"/>
          </a:p>
        </p:txBody>
      </p:sp>
      <p:sp>
        <p:nvSpPr>
          <p:cNvPr id="133" name="Text 89"/>
          <p:cNvSpPr/>
          <p:nvPr/>
        </p:nvSpPr>
        <p:spPr>
          <a:xfrm>
            <a:off x="6264047" y="3757207"/>
            <a:ext cx="66222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record_time</a:t>
            </a:r>
            <a:endParaRPr lang="en-US" sz="1600" dirty="0"/>
          </a:p>
        </p:txBody>
      </p:sp>
      <p:sp>
        <p:nvSpPr>
          <p:cNvPr id="134" name="Text 90"/>
          <p:cNvSpPr/>
          <p:nvPr/>
        </p:nvSpPr>
        <p:spPr>
          <a:xfrm>
            <a:off x="7543516" y="3771402"/>
            <a:ext cx="1296061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recording duration</a:t>
            </a:r>
            <a:endParaRPr lang="en-US" sz="1600" dirty="0"/>
          </a:p>
        </p:txBody>
      </p:sp>
      <p:sp>
        <p:nvSpPr>
          <p:cNvPr id="135" name="Text 91"/>
          <p:cNvSpPr/>
          <p:nvPr/>
        </p:nvSpPr>
        <p:spPr>
          <a:xfrm>
            <a:off x="6264047" y="3908461"/>
            <a:ext cx="870347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first_tts_latency</a:t>
            </a:r>
            <a:endParaRPr lang="en-US" sz="1600" dirty="0"/>
          </a:p>
        </p:txBody>
      </p:sp>
      <p:sp>
        <p:nvSpPr>
          <p:cNvPr id="136" name="Text 92"/>
          <p:cNvSpPr/>
          <p:nvPr/>
        </p:nvSpPr>
        <p:spPr>
          <a:xfrm>
            <a:off x="7846245" y="3922656"/>
            <a:ext cx="993332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TTS response</a:t>
            </a:r>
            <a:endParaRPr lang="en-US" sz="1600" dirty="0"/>
          </a:p>
        </p:txBody>
      </p:sp>
      <p:sp>
        <p:nvSpPr>
          <p:cNvPr id="137" name="Text 93"/>
          <p:cNvSpPr/>
          <p:nvPr/>
        </p:nvSpPr>
        <p:spPr>
          <a:xfrm>
            <a:off x="6264047" y="4059715"/>
            <a:ext cx="482476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7C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cam_fail</a:t>
            </a:r>
            <a:endParaRPr lang="en-US" sz="1600" dirty="0"/>
          </a:p>
        </p:txBody>
      </p:sp>
      <p:sp>
        <p:nvSpPr>
          <p:cNvPr id="138" name="Text 94"/>
          <p:cNvSpPr/>
          <p:nvPr/>
        </p:nvSpPr>
        <p:spPr>
          <a:xfrm>
            <a:off x="7496214" y="4073910"/>
            <a:ext cx="1343363" cy="935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read failure count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rcRect l="67320" b="48117"/>
          <a:stretch>
            <a:fillRect/>
          </a:stretch>
        </p:blipFill>
        <p:spPr>
          <a:xfrm>
            <a:off x="6155702" y="0"/>
            <a:ext cx="2988297" cy="2668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8780" y="397262"/>
            <a:ext cx="6453768" cy="1568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90" b="1" dirty="0">
                <a:solidFill>
                  <a:schemeClr val="bg1">
                    <a:lumMod val="5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Empowering Independence Through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3290" b="1" dirty="0">
                <a:solidFill>
                  <a:srgbClr val="0070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Assistance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22" name="Shape 5"/>
          <p:cNvSpPr/>
          <p:nvPr/>
        </p:nvSpPr>
        <p:spPr>
          <a:xfrm>
            <a:off x="282266" y="3446424"/>
            <a:ext cx="1965403" cy="1163909"/>
          </a:xfrm>
          <a:custGeom>
            <a:avLst/>
            <a:gdLst/>
            <a:ahLst/>
            <a:cxnLst/>
            <a:rect l="l" t="t" r="r" b="b"/>
            <a:pathLst>
              <a:path w="2620537" h="1551878">
                <a:moveTo>
                  <a:pt x="74335" y="0"/>
                </a:moveTo>
                <a:lnTo>
                  <a:pt x="2546202" y="0"/>
                </a:lnTo>
                <a:cubicBezTo>
                  <a:pt x="2587256" y="0"/>
                  <a:pt x="2620537" y="33281"/>
                  <a:pt x="2620537" y="74335"/>
                </a:cubicBezTo>
                <a:lnTo>
                  <a:pt x="2620537" y="1477543"/>
                </a:lnTo>
                <a:cubicBezTo>
                  <a:pt x="2620537" y="1518597"/>
                  <a:pt x="2587256" y="1551878"/>
                  <a:pt x="2546202" y="1551878"/>
                </a:cubicBezTo>
                <a:lnTo>
                  <a:pt x="74335" y="1551878"/>
                </a:lnTo>
                <a:cubicBezTo>
                  <a:pt x="33308" y="1551878"/>
                  <a:pt x="0" y="1518570"/>
                  <a:pt x="0" y="1477543"/>
                </a:cubicBezTo>
                <a:lnTo>
                  <a:pt x="0" y="74335"/>
                </a:lnTo>
                <a:cubicBezTo>
                  <a:pt x="0" y="33308"/>
                  <a:pt x="33308" y="0"/>
                  <a:pt x="74335" y="0"/>
                </a:cubicBezTo>
                <a:close/>
              </a:path>
            </a:pathLst>
          </a:custGeom>
          <a:solidFill>
            <a:schemeClr val="accent5">
              <a:alpha val="10196"/>
            </a:scheme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23" name="Shape 6"/>
          <p:cNvSpPr/>
          <p:nvPr/>
        </p:nvSpPr>
        <p:spPr>
          <a:xfrm>
            <a:off x="439951" y="3589299"/>
            <a:ext cx="235221" cy="209085"/>
          </a:xfrm>
          <a:custGeom>
            <a:avLst/>
            <a:gdLst/>
            <a:ahLst/>
            <a:cxnLst/>
            <a:rect l="l" t="t" r="r" b="b"/>
            <a:pathLst>
              <a:path w="313628" h="278780">
                <a:moveTo>
                  <a:pt x="156814" y="17424"/>
                </a:moveTo>
                <a:cubicBezTo>
                  <a:pt x="112819" y="17424"/>
                  <a:pt x="77590" y="37461"/>
                  <a:pt x="51945" y="61310"/>
                </a:cubicBezTo>
                <a:cubicBezTo>
                  <a:pt x="26462" y="84995"/>
                  <a:pt x="9420" y="113255"/>
                  <a:pt x="1307" y="132693"/>
                </a:cubicBezTo>
                <a:cubicBezTo>
                  <a:pt x="-490" y="136994"/>
                  <a:pt x="-490" y="141786"/>
                  <a:pt x="1307" y="146088"/>
                </a:cubicBezTo>
                <a:cubicBezTo>
                  <a:pt x="9420" y="165526"/>
                  <a:pt x="26462" y="193840"/>
                  <a:pt x="51945" y="217471"/>
                </a:cubicBezTo>
                <a:cubicBezTo>
                  <a:pt x="77590" y="241265"/>
                  <a:pt x="112819" y="261357"/>
                  <a:pt x="156814" y="261357"/>
                </a:cubicBezTo>
                <a:cubicBezTo>
                  <a:pt x="200809" y="261357"/>
                  <a:pt x="236038" y="241319"/>
                  <a:pt x="261683" y="217471"/>
                </a:cubicBezTo>
                <a:cubicBezTo>
                  <a:pt x="287166" y="193785"/>
                  <a:pt x="304208" y="165526"/>
                  <a:pt x="312321" y="146088"/>
                </a:cubicBezTo>
                <a:cubicBezTo>
                  <a:pt x="314118" y="141786"/>
                  <a:pt x="314118" y="136994"/>
                  <a:pt x="312321" y="132693"/>
                </a:cubicBezTo>
                <a:cubicBezTo>
                  <a:pt x="304208" y="113255"/>
                  <a:pt x="287166" y="84941"/>
                  <a:pt x="261683" y="61310"/>
                </a:cubicBezTo>
                <a:cubicBezTo>
                  <a:pt x="236038" y="37516"/>
                  <a:pt x="200809" y="17424"/>
                  <a:pt x="156814" y="17424"/>
                </a:cubicBezTo>
                <a:close/>
                <a:moveTo>
                  <a:pt x="78407" y="139390"/>
                </a:moveTo>
                <a:cubicBezTo>
                  <a:pt x="78407" y="96116"/>
                  <a:pt x="113540" y="60983"/>
                  <a:pt x="156814" y="60983"/>
                </a:cubicBezTo>
                <a:cubicBezTo>
                  <a:pt x="200088" y="60983"/>
                  <a:pt x="235221" y="96116"/>
                  <a:pt x="235221" y="139390"/>
                </a:cubicBezTo>
                <a:cubicBezTo>
                  <a:pt x="235221" y="182664"/>
                  <a:pt x="200088" y="217797"/>
                  <a:pt x="156814" y="217797"/>
                </a:cubicBezTo>
                <a:cubicBezTo>
                  <a:pt x="113540" y="217797"/>
                  <a:pt x="78407" y="182664"/>
                  <a:pt x="78407" y="139390"/>
                </a:cubicBezTo>
                <a:close/>
                <a:moveTo>
                  <a:pt x="156814" y="104543"/>
                </a:moveTo>
                <a:cubicBezTo>
                  <a:pt x="156814" y="123763"/>
                  <a:pt x="141187" y="139390"/>
                  <a:pt x="121966" y="139390"/>
                </a:cubicBezTo>
                <a:cubicBezTo>
                  <a:pt x="115705" y="139390"/>
                  <a:pt x="109824" y="137757"/>
                  <a:pt x="104706" y="134817"/>
                </a:cubicBezTo>
                <a:cubicBezTo>
                  <a:pt x="104162" y="140751"/>
                  <a:pt x="104652" y="146850"/>
                  <a:pt x="106285" y="152894"/>
                </a:cubicBezTo>
                <a:cubicBezTo>
                  <a:pt x="113745" y="180772"/>
                  <a:pt x="142439" y="197324"/>
                  <a:pt x="170317" y="189865"/>
                </a:cubicBezTo>
                <a:cubicBezTo>
                  <a:pt x="198196" y="182405"/>
                  <a:pt x="214748" y="153710"/>
                  <a:pt x="207289" y="125832"/>
                </a:cubicBezTo>
                <a:cubicBezTo>
                  <a:pt x="200646" y="100949"/>
                  <a:pt x="177069" y="85104"/>
                  <a:pt x="152240" y="87282"/>
                </a:cubicBezTo>
                <a:cubicBezTo>
                  <a:pt x="155126" y="92346"/>
                  <a:pt x="156814" y="98227"/>
                  <a:pt x="156814" y="10454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24" name="Text 7"/>
          <p:cNvSpPr/>
          <p:nvPr/>
        </p:nvSpPr>
        <p:spPr>
          <a:xfrm>
            <a:off x="425141" y="3882019"/>
            <a:ext cx="1749347" cy="1951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425140" y="4132921"/>
            <a:ext cx="1735409" cy="3345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Open-vocabulary detection with zero-shot capability</a:t>
            </a:r>
            <a:endParaRPr lang="en-US" sz="1200" dirty="0"/>
          </a:p>
        </p:txBody>
      </p:sp>
      <p:sp>
        <p:nvSpPr>
          <p:cNvPr id="26" name="Shape 9"/>
          <p:cNvSpPr/>
          <p:nvPr/>
        </p:nvSpPr>
        <p:spPr>
          <a:xfrm>
            <a:off x="2419510" y="3446424"/>
            <a:ext cx="1965403" cy="1163909"/>
          </a:xfrm>
          <a:custGeom>
            <a:avLst/>
            <a:gdLst/>
            <a:ahLst/>
            <a:cxnLst/>
            <a:rect l="l" t="t" r="r" b="b"/>
            <a:pathLst>
              <a:path w="2620537" h="1551878">
                <a:moveTo>
                  <a:pt x="74335" y="0"/>
                </a:moveTo>
                <a:lnTo>
                  <a:pt x="2546202" y="0"/>
                </a:lnTo>
                <a:cubicBezTo>
                  <a:pt x="2587256" y="0"/>
                  <a:pt x="2620537" y="33281"/>
                  <a:pt x="2620537" y="74335"/>
                </a:cubicBezTo>
                <a:lnTo>
                  <a:pt x="2620537" y="1477543"/>
                </a:lnTo>
                <a:cubicBezTo>
                  <a:pt x="2620537" y="1518597"/>
                  <a:pt x="2587256" y="1551878"/>
                  <a:pt x="2546202" y="1551878"/>
                </a:cubicBezTo>
                <a:lnTo>
                  <a:pt x="74335" y="1551878"/>
                </a:lnTo>
                <a:cubicBezTo>
                  <a:pt x="33308" y="1551878"/>
                  <a:pt x="0" y="1518570"/>
                  <a:pt x="0" y="1477543"/>
                </a:cubicBezTo>
                <a:lnTo>
                  <a:pt x="0" y="74335"/>
                </a:lnTo>
                <a:cubicBezTo>
                  <a:pt x="0" y="33308"/>
                  <a:pt x="33308" y="0"/>
                  <a:pt x="74335" y="0"/>
                </a:cubicBezTo>
                <a:close/>
              </a:path>
            </a:pathLst>
          </a:custGeom>
          <a:solidFill>
            <a:schemeClr val="accent5">
              <a:alpha val="10196"/>
            </a:scheme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27" name="Shape 10"/>
          <p:cNvSpPr/>
          <p:nvPr/>
        </p:nvSpPr>
        <p:spPr>
          <a:xfrm>
            <a:off x="2590263" y="3589299"/>
            <a:ext cx="209085" cy="209085"/>
          </a:xfrm>
          <a:custGeom>
            <a:avLst/>
            <a:gdLst/>
            <a:ahLst/>
            <a:cxnLst/>
            <a:rect l="l" t="t" r="r" b="b"/>
            <a:pathLst>
              <a:path w="278780" h="278780">
                <a:moveTo>
                  <a:pt x="65339" y="30492"/>
                </a:moveTo>
                <a:cubicBezTo>
                  <a:pt x="65339" y="13667"/>
                  <a:pt x="79006" y="0"/>
                  <a:pt x="95831" y="0"/>
                </a:cubicBezTo>
                <a:lnTo>
                  <a:pt x="108899" y="0"/>
                </a:lnTo>
                <a:cubicBezTo>
                  <a:pt x="118536" y="0"/>
                  <a:pt x="126322" y="7786"/>
                  <a:pt x="126322" y="17424"/>
                </a:cubicBezTo>
                <a:lnTo>
                  <a:pt x="126322" y="261357"/>
                </a:lnTo>
                <a:cubicBezTo>
                  <a:pt x="126322" y="270994"/>
                  <a:pt x="118536" y="278780"/>
                  <a:pt x="108899" y="278780"/>
                </a:cubicBezTo>
                <a:lnTo>
                  <a:pt x="91475" y="278780"/>
                </a:lnTo>
                <a:cubicBezTo>
                  <a:pt x="75249" y="278780"/>
                  <a:pt x="61582" y="267673"/>
                  <a:pt x="57716" y="252645"/>
                </a:cubicBezTo>
                <a:cubicBezTo>
                  <a:pt x="57335" y="252645"/>
                  <a:pt x="57008" y="252645"/>
                  <a:pt x="56627" y="252645"/>
                </a:cubicBezTo>
                <a:cubicBezTo>
                  <a:pt x="32561" y="252645"/>
                  <a:pt x="13068" y="233152"/>
                  <a:pt x="13068" y="209085"/>
                </a:cubicBezTo>
                <a:cubicBezTo>
                  <a:pt x="13068" y="199284"/>
                  <a:pt x="16335" y="190246"/>
                  <a:pt x="21780" y="182950"/>
                </a:cubicBezTo>
                <a:cubicBezTo>
                  <a:pt x="11217" y="175000"/>
                  <a:pt x="4356" y="162368"/>
                  <a:pt x="4356" y="148102"/>
                </a:cubicBezTo>
                <a:cubicBezTo>
                  <a:pt x="4356" y="131277"/>
                  <a:pt x="13939" y="116630"/>
                  <a:pt x="27878" y="109389"/>
                </a:cubicBezTo>
                <a:cubicBezTo>
                  <a:pt x="24012" y="102855"/>
                  <a:pt x="21780" y="95232"/>
                  <a:pt x="21780" y="87119"/>
                </a:cubicBezTo>
                <a:cubicBezTo>
                  <a:pt x="21780" y="63052"/>
                  <a:pt x="41273" y="43559"/>
                  <a:pt x="65339" y="43559"/>
                </a:cubicBezTo>
                <a:lnTo>
                  <a:pt x="65339" y="30492"/>
                </a:lnTo>
                <a:close/>
                <a:moveTo>
                  <a:pt x="213441" y="30492"/>
                </a:moveTo>
                <a:lnTo>
                  <a:pt x="213441" y="43559"/>
                </a:lnTo>
                <a:cubicBezTo>
                  <a:pt x="237508" y="43559"/>
                  <a:pt x="257001" y="63052"/>
                  <a:pt x="257001" y="87119"/>
                </a:cubicBezTo>
                <a:cubicBezTo>
                  <a:pt x="257001" y="95286"/>
                  <a:pt x="254768" y="102909"/>
                  <a:pt x="250902" y="109389"/>
                </a:cubicBezTo>
                <a:cubicBezTo>
                  <a:pt x="264896" y="116630"/>
                  <a:pt x="274425" y="131223"/>
                  <a:pt x="274425" y="148102"/>
                </a:cubicBezTo>
                <a:cubicBezTo>
                  <a:pt x="274425" y="162368"/>
                  <a:pt x="267564" y="175000"/>
                  <a:pt x="257001" y="182950"/>
                </a:cubicBezTo>
                <a:cubicBezTo>
                  <a:pt x="262446" y="190246"/>
                  <a:pt x="265713" y="199284"/>
                  <a:pt x="265713" y="209085"/>
                </a:cubicBezTo>
                <a:cubicBezTo>
                  <a:pt x="265713" y="233152"/>
                  <a:pt x="246220" y="252645"/>
                  <a:pt x="222153" y="252645"/>
                </a:cubicBezTo>
                <a:cubicBezTo>
                  <a:pt x="221772" y="252645"/>
                  <a:pt x="221445" y="252645"/>
                  <a:pt x="221064" y="252645"/>
                </a:cubicBezTo>
                <a:cubicBezTo>
                  <a:pt x="217198" y="267673"/>
                  <a:pt x="203532" y="278780"/>
                  <a:pt x="187306" y="278780"/>
                </a:cubicBezTo>
                <a:lnTo>
                  <a:pt x="169882" y="278780"/>
                </a:lnTo>
                <a:cubicBezTo>
                  <a:pt x="160244" y="278780"/>
                  <a:pt x="152458" y="270994"/>
                  <a:pt x="152458" y="261357"/>
                </a:cubicBezTo>
                <a:lnTo>
                  <a:pt x="152458" y="17424"/>
                </a:lnTo>
                <a:cubicBezTo>
                  <a:pt x="152458" y="7786"/>
                  <a:pt x="160244" y="0"/>
                  <a:pt x="169882" y="0"/>
                </a:cubicBezTo>
                <a:lnTo>
                  <a:pt x="182950" y="0"/>
                </a:lnTo>
                <a:cubicBezTo>
                  <a:pt x="199775" y="0"/>
                  <a:pt x="213441" y="13667"/>
                  <a:pt x="213441" y="30492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28" name="Text 11"/>
          <p:cNvSpPr/>
          <p:nvPr/>
        </p:nvSpPr>
        <p:spPr>
          <a:xfrm>
            <a:off x="2562385" y="3882019"/>
            <a:ext cx="1749347" cy="1951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2562385" y="4132921"/>
            <a:ext cx="1735409" cy="3345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LLM-enhanced voice recognition with visual context</a:t>
            </a:r>
            <a:endParaRPr lang="en-US" sz="1200" dirty="0"/>
          </a:p>
        </p:txBody>
      </p:sp>
      <p:sp>
        <p:nvSpPr>
          <p:cNvPr id="30" name="Shape 13"/>
          <p:cNvSpPr/>
          <p:nvPr/>
        </p:nvSpPr>
        <p:spPr>
          <a:xfrm>
            <a:off x="4556863" y="3446424"/>
            <a:ext cx="1965403" cy="1163909"/>
          </a:xfrm>
          <a:custGeom>
            <a:avLst/>
            <a:gdLst/>
            <a:ahLst/>
            <a:cxnLst/>
            <a:rect l="l" t="t" r="r" b="b"/>
            <a:pathLst>
              <a:path w="2620537" h="1551878">
                <a:moveTo>
                  <a:pt x="74335" y="0"/>
                </a:moveTo>
                <a:lnTo>
                  <a:pt x="2546202" y="0"/>
                </a:lnTo>
                <a:cubicBezTo>
                  <a:pt x="2587256" y="0"/>
                  <a:pt x="2620537" y="33281"/>
                  <a:pt x="2620537" y="74335"/>
                </a:cubicBezTo>
                <a:lnTo>
                  <a:pt x="2620537" y="1477543"/>
                </a:lnTo>
                <a:cubicBezTo>
                  <a:pt x="2620537" y="1518597"/>
                  <a:pt x="2587256" y="1551878"/>
                  <a:pt x="2546202" y="1551878"/>
                </a:cubicBezTo>
                <a:lnTo>
                  <a:pt x="74335" y="1551878"/>
                </a:lnTo>
                <a:cubicBezTo>
                  <a:pt x="33308" y="1551878"/>
                  <a:pt x="0" y="1518570"/>
                  <a:pt x="0" y="1477543"/>
                </a:cubicBezTo>
                <a:lnTo>
                  <a:pt x="0" y="74335"/>
                </a:lnTo>
                <a:cubicBezTo>
                  <a:pt x="0" y="33308"/>
                  <a:pt x="33308" y="0"/>
                  <a:pt x="74335" y="0"/>
                </a:cubicBezTo>
                <a:close/>
              </a:path>
            </a:pathLst>
          </a:custGeom>
          <a:solidFill>
            <a:schemeClr val="accent5">
              <a:alpha val="10196"/>
            </a:scheme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350" dirty="0"/>
          </a:p>
        </p:txBody>
      </p:sp>
      <p:sp>
        <p:nvSpPr>
          <p:cNvPr id="31" name="Shape 14"/>
          <p:cNvSpPr/>
          <p:nvPr/>
        </p:nvSpPr>
        <p:spPr>
          <a:xfrm>
            <a:off x="4727616" y="3589299"/>
            <a:ext cx="209085" cy="209085"/>
          </a:xfrm>
          <a:custGeom>
            <a:avLst/>
            <a:gdLst/>
            <a:ahLst/>
            <a:cxnLst/>
            <a:rect l="l" t="t" r="r" b="b"/>
            <a:pathLst>
              <a:path w="278780" h="278780">
                <a:moveTo>
                  <a:pt x="131223" y="47425"/>
                </a:moveTo>
                <a:lnTo>
                  <a:pt x="139390" y="58696"/>
                </a:lnTo>
                <a:lnTo>
                  <a:pt x="147558" y="47425"/>
                </a:lnTo>
                <a:cubicBezTo>
                  <a:pt x="161170" y="28586"/>
                  <a:pt x="183059" y="17424"/>
                  <a:pt x="206308" y="17424"/>
                </a:cubicBezTo>
                <a:cubicBezTo>
                  <a:pt x="246329" y="17424"/>
                  <a:pt x="278780" y="49876"/>
                  <a:pt x="278780" y="89896"/>
                </a:cubicBezTo>
                <a:lnTo>
                  <a:pt x="278780" y="91311"/>
                </a:lnTo>
                <a:cubicBezTo>
                  <a:pt x="278780" y="152404"/>
                  <a:pt x="202606" y="223351"/>
                  <a:pt x="162858" y="253679"/>
                </a:cubicBezTo>
                <a:cubicBezTo>
                  <a:pt x="156106" y="258798"/>
                  <a:pt x="147830" y="261357"/>
                  <a:pt x="139390" y="261357"/>
                </a:cubicBezTo>
                <a:cubicBezTo>
                  <a:pt x="130951" y="261357"/>
                  <a:pt x="122620" y="258852"/>
                  <a:pt x="115923" y="253679"/>
                </a:cubicBezTo>
                <a:cubicBezTo>
                  <a:pt x="76175" y="223351"/>
                  <a:pt x="0" y="152404"/>
                  <a:pt x="0" y="91311"/>
                </a:cubicBezTo>
                <a:lnTo>
                  <a:pt x="0" y="89896"/>
                </a:lnTo>
                <a:cubicBezTo>
                  <a:pt x="0" y="49876"/>
                  <a:pt x="32452" y="17424"/>
                  <a:pt x="72472" y="17424"/>
                </a:cubicBezTo>
                <a:cubicBezTo>
                  <a:pt x="95722" y="17424"/>
                  <a:pt x="117611" y="28586"/>
                  <a:pt x="131223" y="47425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32" name="Text 15"/>
          <p:cNvSpPr/>
          <p:nvPr/>
        </p:nvSpPr>
        <p:spPr>
          <a:xfrm>
            <a:off x="4699738" y="3882019"/>
            <a:ext cx="1749347" cy="1951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Human-Centered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4699738" y="4132921"/>
            <a:ext cx="1735409" cy="3345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Designed for real users with real accessibility needs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341505" y="2124964"/>
            <a:ext cx="6180761" cy="1087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5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 will expand gesture vocabulary and optimize deployment for edge devices. By integrating haptic feedback, we aim to evolve the system into a multi-sensory ecosystem for more intuitive human-spatial interaction.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286.94606299212603,&quot;left&quot;:34.33322834645669,&quot;top&quot;:83.17968503937007,&quot;width&quot;:260.33346456692914}"/>
</p:tagLst>
</file>

<file path=ppt/tags/tag2.xml><?xml version="1.0" encoding="utf-8"?>
<p:tagLst xmlns:p="http://schemas.openxmlformats.org/presentationml/2006/main">
  <p:tag name="KSO_WM_DIAGRAM_VIRTUALLY_FRAME" val="{&quot;height&quot;:286.94606299212603,&quot;left&quot;:34.33322834645669,&quot;top&quot;:83.17968503937007,&quot;width&quot;:260.33346456692914}"/>
</p:tagLst>
</file>

<file path=ppt/tags/tag3.xml><?xml version="1.0" encoding="utf-8"?>
<p:tagLst xmlns:p="http://schemas.openxmlformats.org/presentationml/2006/main">
  <p:tag name="KSO_WM_DIAGRAM_VIRTUALLY_FRAME" val="{&quot;height&quot;:286.94606299212603,&quot;left&quot;:34.33322834645669,&quot;top&quot;:83.17968503937007,&quot;width&quot;:260.33346456692914}"/>
</p:tagLst>
</file>

<file path=ppt/tags/tag4.xml><?xml version="1.0" encoding="utf-8"?>
<p:tagLst xmlns:p="http://schemas.openxmlformats.org/presentationml/2006/main">
  <p:tag name="KSO_WM_DIAGRAM_VIRTUALLY_FRAME" val="{&quot;height&quot;:286.94606299212603,&quot;left&quot;:34.33322834645669,&quot;top&quot;:83.17968503937007,&quot;width&quot;:260.33346456692914}"/>
</p:tagLst>
</file>

<file path=ppt/tags/tag5.xml><?xml version="1.0" encoding="utf-8"?>
<p:tagLst xmlns:p="http://schemas.openxmlformats.org/presentationml/2006/main">
  <p:tag name="KSO_WM_DIAGRAM_VIRTUALLY_FRAME" val="{&quot;height&quot;:279.82716535433076,&quot;left&quot;:45,&quot;top&quot;:90,&quot;width&quot;:284.56700787401576}"/>
</p:tagLst>
</file>

<file path=ppt/tags/tag6.xml><?xml version="1.0" encoding="utf-8"?>
<p:tagLst xmlns:p="http://schemas.openxmlformats.org/presentationml/2006/main">
  <p:tag name="KSO_WM_DIAGRAM_VIRTUALLY_FRAME" val="{&quot;height&quot;:279.82716535433076,&quot;left&quot;:45,&quot;top&quot;:90,&quot;width&quot;:284.56700787401576}"/>
</p:tagLst>
</file>

<file path=ppt/tags/tag7.xml><?xml version="1.0" encoding="utf-8"?>
<p:tagLst xmlns:p="http://schemas.openxmlformats.org/presentationml/2006/main">
  <p:tag name="KSO_WM_DIAGRAM_VIRTUALLY_FRAME" val="{&quot;height&quot;:279.82716535433076,&quot;left&quot;:45,&quot;top&quot;:90,&quot;width&quot;:284.56700787401576}"/>
</p:tagLst>
</file>

<file path=ppt/tags/tag8.xml><?xml version="1.0" encoding="utf-8"?>
<p:tagLst xmlns:p="http://schemas.openxmlformats.org/presentationml/2006/main">
  <p:tag name="KSO_WM_DIAGRAM_VIRTUALLY_FRAME" val="{&quot;height&quot;:279.82716535433076,&quot;left&quot;:45,&quot;top&quot;:90,&quot;width&quot;:284.56700787401576}"/>
</p:tagLst>
</file>

<file path=ppt/tags/tag9.xml><?xml version="1.0" encoding="utf-8"?>
<p:tagLst xmlns:p="http://schemas.openxmlformats.org/presentationml/2006/main">
  <p:tag name="KSO_WM_DIAGRAM_VIRTUALLY_FRAME" val="{&quot;height&quot;:279.82716535433076,&quot;left&quot;:45,&quot;top&quot;:90,&quot;width&quot;:284.56700787401576}"/>
</p:tagLst>
</file>

<file path=ppt/tags/tag10.xml><?xml version="1.0" encoding="utf-8"?>
<p:tagLst xmlns:p="http://schemas.openxmlformats.org/presentationml/2006/main">
  <p:tag name="KSO_WM_DIAGRAM_VIRTUALLY_FRAME" val="{&quot;height&quot;:279.82716535433076,&quot;left&quot;:45,&quot;top&quot;:90,&quot;width&quot;:284.5670078740157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5838</Words>
  <Application>WPS 演示</Application>
  <PresentationFormat>全屏显示(16:9)</PresentationFormat>
  <Paragraphs>375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8" baseType="lpstr">
      <vt:lpstr>Arial</vt:lpstr>
      <vt:lpstr>宋体</vt:lpstr>
      <vt:lpstr>Wingdings</vt:lpstr>
      <vt:lpstr>Playfair Display</vt:lpstr>
      <vt:lpstr>Segoe Print</vt:lpstr>
      <vt:lpstr>Playfair Display</vt:lpstr>
      <vt:lpstr>Playfair Display</vt:lpstr>
      <vt:lpstr>Inter</vt:lpstr>
      <vt:lpstr>Inter</vt:lpstr>
      <vt:lpstr>Inter</vt:lpstr>
      <vt:lpstr>Liter</vt:lpstr>
      <vt:lpstr>Liter</vt:lpstr>
      <vt:lpstr>Liter</vt:lpstr>
      <vt:lpstr>Playbill</vt:lpstr>
      <vt:lpstr>Quattrocento Sans</vt:lpstr>
      <vt:lpstr>Quattrocento Sans</vt:lpstr>
      <vt:lpstr>MiSans</vt:lpstr>
      <vt:lpstr>MiSans</vt:lpstr>
      <vt:lpstr>MiSans</vt:lpstr>
      <vt:lpstr>Quattrocento Sans</vt:lpstr>
      <vt:lpstr>Calibri</vt:lpstr>
      <vt:lpstr>微软雅黑</vt:lpstr>
      <vt:lpstr>Arial Unicode MS</vt:lpstr>
      <vt:lpstr>等线</vt:lpstr>
      <vt:lpstr>MingLiU-ExtB</vt:lpstr>
      <vt:lpstr>komorebi</vt:lpstr>
      <vt:lpstr>Saturday Sans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RickyMa</cp:lastModifiedBy>
  <cp:revision>12</cp:revision>
  <dcterms:created xsi:type="dcterms:W3CDTF">2026-04-12T03:37:00Z</dcterms:created>
  <dcterms:modified xsi:type="dcterms:W3CDTF">2026-04-13T14:47:06Z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1DA8830A904E4261A45B13853FEE46C7_13</vt:lpwstr>
  </property>
  <property fmtid="{D5CDD505-2E9C-101B-9397-08002B2CF9AE}" pid="3" name="KSOProductBuildVer">
    <vt:lpwstr>2052-12.1.0.25222</vt:lpwstr>
  </property>
</Properties>
</file>