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760307"/>
            <a:ext cx="714375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CV Assist: A Real-Time Visual Assistance System for the Visually Impaired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714500" y="2891935"/>
            <a:ext cx="5715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Independence Through Open-Vocabulary Detection, Monocular Depth, Hand Tracking &amp; LLM-Vision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1000125" y="3920635"/>
            <a:ext cx="7143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[Your Name / Team]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527995" y="4261749"/>
            <a:ext cx="7161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OWL-VIT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3415605" y="4261749"/>
            <a:ext cx="5893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MIDAS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176415" y="4261749"/>
            <a:ext cx="83403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181898" y="4261749"/>
            <a:ext cx="14341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LLM-VISION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7086600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Visually Impaired Users Lack Intuitive, Real-Time Spatial Guidance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14425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2.2 billion people live with vision impairment. Daily tasks like object localization and grasping remain major barriers to independence.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104141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GAP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345243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lack real-time spatial guidance. Current AI solutions often require specialized hardware or fixed categories, limiting their utility.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093858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3334959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open-vocabulary search with depth-aware spatial guidance and natural voice interaction into a single, accessible pipeline.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4083574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GOAL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4324676"/>
            <a:ext cx="34218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78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"Virtual Eye"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guides the user's hand to any object using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and real-time audio feedback.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429250" y="1828800"/>
            <a:ext cx="2857500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29250" y="2753916"/>
            <a:ext cx="2857500" cy="9322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429250" y="2753916"/>
            <a:ext cx="2857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6"/>
          <p:cNvSpPr/>
          <p:nvPr/>
        </p:nvSpPr>
        <p:spPr>
          <a:xfrm>
            <a:off x="6500813" y="2893219"/>
            <a:ext cx="700088" cy="203597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0813" y="2893219"/>
            <a:ext cx="700088" cy="20359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OBJECT: DETECTED</a:t>
            </a:r>
            <a:endParaRPr lang="en-US" sz="485" dirty="0"/>
          </a:p>
        </p:txBody>
      </p:sp>
      <p:sp>
        <p:nvSpPr>
          <p:cNvPr id="21" name="Text 18"/>
          <p:cNvSpPr/>
          <p:nvPr/>
        </p:nvSpPr>
        <p:spPr>
          <a:xfrm>
            <a:off x="6515100" y="3134320"/>
            <a:ext cx="6858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ASSIST OVERLAY</a:t>
            </a:r>
            <a:endParaRPr lang="en-US" sz="485" dirty="0"/>
          </a:p>
        </p:txBody>
      </p:sp>
      <p:sp>
        <p:nvSpPr>
          <p:cNvPr id="22" name="Text 19"/>
          <p:cNvSpPr/>
          <p:nvPr/>
        </p:nvSpPr>
        <p:spPr>
          <a:xfrm>
            <a:off x="6287393" y="3161109"/>
            <a:ext cx="11412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ASSIST VISION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429250" y="38290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</a:t>
            </a:r>
            <a:r>
              <a:rPr lang="en-US" sz="78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perception</a:t>
            </a:r>
            <a:r>
              <a:rPr lang="en-US" sz="78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78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r>
              <a:rPr lang="en-US" sz="78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intuitive guidance.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7013377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Decoupled Modules Work in Concert for Real-Time Guidance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571500" y="1143000"/>
            <a:ext cx="8001000" cy="1428750"/>
          </a:xfrm>
          <a:prstGeom prst="rect">
            <a:avLst/>
          </a:prstGeom>
          <a:solidFill>
            <a:srgbClr val="F8FAFC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7250" y="1650206"/>
            <a:ext cx="1485900" cy="414338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2975" y="1743075"/>
            <a:ext cx="13144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435" dirty="0"/>
          </a:p>
        </p:txBody>
      </p:sp>
      <p:sp>
        <p:nvSpPr>
          <p:cNvPr id="10" name="Text 7"/>
          <p:cNvSpPr/>
          <p:nvPr/>
        </p:nvSpPr>
        <p:spPr>
          <a:xfrm>
            <a:off x="1103709" y="1850231"/>
            <a:ext cx="9929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WEBCAM + VOICE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2838413" y="1400175"/>
            <a:ext cx="1485900" cy="414338"/>
          </a:xfrm>
          <a:prstGeom prst="rect">
            <a:avLst/>
          </a:prstGeom>
          <a:solidFill>
            <a:srgbClr val="E8F0FE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4138" y="1493044"/>
            <a:ext cx="13144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PERCEPTION</a:t>
            </a:r>
            <a:endParaRPr lang="en-US" sz="435" dirty="0"/>
          </a:p>
        </p:txBody>
      </p:sp>
      <p:sp>
        <p:nvSpPr>
          <p:cNvPr id="13" name="Text 10"/>
          <p:cNvSpPr/>
          <p:nvPr/>
        </p:nvSpPr>
        <p:spPr>
          <a:xfrm>
            <a:off x="3085765" y="1600200"/>
            <a:ext cx="99119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OWL-VIT + MIDAS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2838413" y="1893094"/>
            <a:ext cx="1485900" cy="414338"/>
          </a:xfrm>
          <a:prstGeom prst="rect">
            <a:avLst/>
          </a:prstGeom>
          <a:solidFill>
            <a:srgbClr val="E8F0FE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4138" y="1985963"/>
            <a:ext cx="13144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435" dirty="0"/>
          </a:p>
        </p:txBody>
      </p:sp>
      <p:sp>
        <p:nvSpPr>
          <p:cNvPr id="16" name="Text 13"/>
          <p:cNvSpPr/>
          <p:nvPr/>
        </p:nvSpPr>
        <p:spPr>
          <a:xfrm>
            <a:off x="3275967" y="2093119"/>
            <a:ext cx="6107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4819576" y="1503759"/>
            <a:ext cx="1485900" cy="707231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05301" y="1682353"/>
            <a:ext cx="13144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435" dirty="0"/>
          </a:p>
        </p:txBody>
      </p:sp>
      <p:sp>
        <p:nvSpPr>
          <p:cNvPr id="19" name="Text 16"/>
          <p:cNvSpPr/>
          <p:nvPr/>
        </p:nvSpPr>
        <p:spPr>
          <a:xfrm>
            <a:off x="5268739" y="1789509"/>
            <a:ext cx="5875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188372" y="1910953"/>
            <a:ext cx="7483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6800738" y="1650206"/>
            <a:ext cx="1485900" cy="414338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6463" y="1743075"/>
            <a:ext cx="13144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435" dirty="0"/>
          </a:p>
        </p:txBody>
      </p:sp>
      <p:sp>
        <p:nvSpPr>
          <p:cNvPr id="23" name="Text 20"/>
          <p:cNvSpPr/>
          <p:nvPr/>
        </p:nvSpPr>
        <p:spPr>
          <a:xfrm>
            <a:off x="7104348" y="1850231"/>
            <a:ext cx="8786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TTS + OVERLAY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714375" y="1228725"/>
            <a:ext cx="844748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PIPELINE</a:t>
            </a:r>
            <a:endParaRPr lang="en-US" sz="485" dirty="0"/>
          </a:p>
        </p:txBody>
      </p:sp>
      <p:sp>
        <p:nvSpPr>
          <p:cNvPr id="25" name="Text 22"/>
          <p:cNvSpPr/>
          <p:nvPr/>
        </p:nvSpPr>
        <p:spPr>
          <a:xfrm>
            <a:off x="571500" y="2857500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Pipeline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71500" y="3098602"/>
            <a:ext cx="247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Decoupled perception modules (OWL-ViT, MiDaS, MediaPipe) run in parallel, allowing for independent upgrades and optimizations.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3333731" y="2857500"/>
            <a:ext cx="24765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Input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333731" y="3098602"/>
            <a:ext cx="24765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Fuses continuous RGB video streams with asynchronous voice commands to create a flexible, hands-free interaction model.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6095991" y="2857500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Output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6095991" y="3098602"/>
            <a:ext cx="247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controller synthesizes spatial data to deliver immediate, actionable audio instructions and visual feedback.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6038255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Search for Any Object by Name — No Retraining Required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TECHNOLOGY: OWL-VIT V2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the Open-Vocabulary Vision Transformer, a CLIP-based detector that accepts free-text queries instead of relying on predefined classes.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1869877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CAPABILITY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082403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any object category described in natural language (e.g., "red coffee cup", "TV remote") without requiring model fine-tuning or retraining.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571500" y="2596753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BOX OUTPUT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809280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precise 2D object location coordinates, serving as the foundational input for downstream spatial guidance and depth computation.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3323630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3536156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reliable detection accuracy across diverse lighting conditions, varying angles, and highly cluttered real-world environments.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571500" y="4050506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71500" y="4263033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rigid category constraints of traditional detectors, making the system universally applicable to any user's specific needs.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772150" y="1409998"/>
            <a:ext cx="3086100" cy="25717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7875" y="1495723"/>
            <a:ext cx="1166217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SIMULATION</a:t>
            </a:r>
            <a:endParaRPr lang="en-US" sz="485" dirty="0"/>
          </a:p>
        </p:txBody>
      </p:sp>
      <p:sp>
        <p:nvSpPr>
          <p:cNvPr id="20" name="Shape 17"/>
          <p:cNvSpPr/>
          <p:nvPr/>
        </p:nvSpPr>
        <p:spPr>
          <a:xfrm>
            <a:off x="6057900" y="1981498"/>
            <a:ext cx="714375" cy="1000125"/>
          </a:xfrm>
          <a:prstGeom prst="rect">
            <a:avLst/>
          </a:prstGeom>
          <a:solidFill>
            <a:srgbClr val="0066CC">
              <a:alpha val="5000"/>
            </a:srgbClr>
          </a:solidFill>
          <a:ln w="18288">
            <a:solidFill>
              <a:srgbClr val="0066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43613" y="1824335"/>
            <a:ext cx="766167" cy="11608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2" name="Text 19"/>
          <p:cNvSpPr/>
          <p:nvPr/>
        </p:nvSpPr>
        <p:spPr>
          <a:xfrm>
            <a:off x="6043613" y="1824335"/>
            <a:ext cx="766167" cy="11608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"RED COFFEE CUP"</a:t>
            </a:r>
            <a:endParaRPr lang="en-US" sz="485" dirty="0"/>
          </a:p>
        </p:txBody>
      </p:sp>
      <p:sp>
        <p:nvSpPr>
          <p:cNvPr id="23" name="Shape 20"/>
          <p:cNvSpPr/>
          <p:nvPr/>
        </p:nvSpPr>
        <p:spPr>
          <a:xfrm>
            <a:off x="8072438" y="2410123"/>
            <a:ext cx="500063" cy="1143000"/>
          </a:xfrm>
          <a:prstGeom prst="rect">
            <a:avLst/>
          </a:prstGeom>
          <a:solidFill>
            <a:srgbClr val="4A4A4A">
              <a:alpha val="5000"/>
            </a:srgbClr>
          </a:solidFill>
          <a:ln w="18288">
            <a:solidFill>
              <a:srgbClr val="4A4A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58150" y="2252960"/>
            <a:ext cx="582216" cy="11608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2"/>
          <p:cNvSpPr/>
          <p:nvPr/>
        </p:nvSpPr>
        <p:spPr>
          <a:xfrm>
            <a:off x="8058150" y="2252960"/>
            <a:ext cx="582216" cy="11608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"TV REMOTE"</a:t>
            </a:r>
            <a:endParaRPr lang="en-US" sz="485" dirty="0"/>
          </a:p>
        </p:txBody>
      </p:sp>
      <p:sp>
        <p:nvSpPr>
          <p:cNvPr id="26" name="Shape 23"/>
          <p:cNvSpPr/>
          <p:nvPr/>
        </p:nvSpPr>
        <p:spPr>
          <a:xfrm>
            <a:off x="6915150" y="3124498"/>
            <a:ext cx="857250" cy="571500"/>
          </a:xfrm>
          <a:prstGeom prst="rect">
            <a:avLst/>
          </a:prstGeom>
          <a:solidFill>
            <a:srgbClr val="0066CC">
              <a:alpha val="5000"/>
            </a:srgbClr>
          </a:solidFill>
          <a:ln w="18288">
            <a:solidFill>
              <a:srgbClr val="0066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00863" y="2967335"/>
            <a:ext cx="810816" cy="11608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8" name="Text 25"/>
          <p:cNvSpPr/>
          <p:nvPr/>
        </p:nvSpPr>
        <p:spPr>
          <a:xfrm>
            <a:off x="6900863" y="2967335"/>
            <a:ext cx="810816" cy="11608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"MEDICINE BOTTLE"</a:t>
            </a:r>
            <a:endParaRPr lang="en-US" sz="485" dirty="0"/>
          </a:p>
        </p:txBody>
      </p:sp>
      <p:sp>
        <p:nvSpPr>
          <p:cNvPr id="29" name="Shape 26"/>
          <p:cNvSpPr/>
          <p:nvPr/>
        </p:nvSpPr>
        <p:spPr>
          <a:xfrm>
            <a:off x="5772150" y="4210348"/>
            <a:ext cx="3086100" cy="380405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86450" y="4146054"/>
            <a:ext cx="1076920" cy="785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5886450" y="4146054"/>
            <a:ext cx="1076920" cy="78581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</a:t>
            </a:r>
            <a:endParaRPr lang="en-US" sz="435" dirty="0"/>
          </a:p>
        </p:txBody>
      </p:sp>
      <p:sp>
        <p:nvSpPr>
          <p:cNvPr id="32" name="Shape 29"/>
          <p:cNvSpPr/>
          <p:nvPr/>
        </p:nvSpPr>
        <p:spPr>
          <a:xfrm>
            <a:off x="5886450" y="4146054"/>
            <a:ext cx="1076920" cy="785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5886450" y="4146054"/>
            <a:ext cx="1076920" cy="78581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</a:t>
            </a:r>
            <a:endParaRPr lang="en-US" sz="435" dirty="0"/>
          </a:p>
        </p:txBody>
      </p:sp>
      <p:sp>
        <p:nvSpPr>
          <p:cNvPr id="34" name="Text 31"/>
          <p:cNvSpPr/>
          <p:nvPr/>
        </p:nvSpPr>
        <p:spPr>
          <a:xfrm>
            <a:off x="6374011" y="4331791"/>
            <a:ext cx="13323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medicine bottle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6281142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Accurate Distance Sensing from a Single Consumer Camera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42791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MiDaS_small — a lightweight monocular depth estimation model optimized for real-time inference on standard hardware.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1892703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105230"/>
            <a:ext cx="42791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per-pixel relative depth map from a single RGB frame, estimating distance to both the target and the user's hand.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2642406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854933"/>
            <a:ext cx="42791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need for expensive stereo cameras or LiDAR — runs entirely on any standard consumer-grade webcam.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3392109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3604636"/>
            <a:ext cx="42791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values are sampled at the object center and hand landmark to compute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78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Z-axis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guidance component.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1500" y="4141812"/>
            <a:ext cx="4279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71500" y="4354339"/>
            <a:ext cx="42791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inference ensures zero lag in spatial perception, maintaining high frame rates for fluid interaction.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429250" y="857250"/>
            <a:ext cx="371475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000750" y="1725216"/>
            <a:ext cx="2571750" cy="2000250"/>
          </a:xfrm>
          <a:prstGeom prst="rect">
            <a:avLst/>
          </a:prstGeom>
          <a:solidFill>
            <a:srgbClr val="0066CC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6475" y="1810941"/>
            <a:ext cx="992981" cy="8751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6475" y="1810941"/>
            <a:ext cx="992981" cy="875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MiDaS DEPTH HEATMAP</a:t>
            </a:r>
            <a:endParaRPr lang="en-US" sz="485" dirty="0"/>
          </a:p>
        </p:txBody>
      </p:sp>
      <p:sp>
        <p:nvSpPr>
          <p:cNvPr id="21" name="Shape 18"/>
          <p:cNvSpPr/>
          <p:nvPr/>
        </p:nvSpPr>
        <p:spPr>
          <a:xfrm>
            <a:off x="6772275" y="2325291"/>
            <a:ext cx="428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FFFFF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818709" y="2780705"/>
            <a:ext cx="221456" cy="8751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818709" y="2780705"/>
            <a:ext cx="221456" cy="8751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Z: FAR</a:t>
            </a:r>
            <a:endParaRPr lang="en-US" sz="485" dirty="0"/>
          </a:p>
        </p:txBody>
      </p:sp>
      <p:sp>
        <p:nvSpPr>
          <p:cNvPr id="24" name="Shape 21"/>
          <p:cNvSpPr/>
          <p:nvPr/>
        </p:nvSpPr>
        <p:spPr>
          <a:xfrm>
            <a:off x="7915275" y="3182541"/>
            <a:ext cx="142875" cy="1428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66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00975" y="3011091"/>
            <a:ext cx="196453" cy="17502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00975" y="3011091"/>
            <a:ext cx="196453" cy="175022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Z: NEAR</a:t>
            </a:r>
            <a:endParaRPr lang="en-US" sz="485" dirty="0"/>
          </a:p>
        </p:txBody>
      </p:sp>
      <p:sp>
        <p:nvSpPr>
          <p:cNvPr id="27" name="Text 24"/>
          <p:cNvSpPr/>
          <p:nvPr/>
        </p:nvSpPr>
        <p:spPr>
          <a:xfrm>
            <a:off x="6000750" y="3954066"/>
            <a:ext cx="2571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Computing </a:t>
            </a:r>
            <a:r>
              <a:rPr lang="en-US" sz="73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Z-axis offset</a:t>
            </a: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hand and target </a:t>
            </a: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relative depth estimation.</a:t>
            </a:r>
            <a:endParaRPr lang="en-US" sz="7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7181255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High-Fidelity 3D Hand Landmarks Enable Precise Spatial Alignment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4336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MediaPipe Hands tracks 21 3D hand landmarks in real time, providing robust skeletal tracking from a standard RGB feed.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1869877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POSITION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082403"/>
            <a:ext cx="4336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centroid of key landmarks (wrist + finger bases) is calculated as the definitive "hand location" for spatial offset computation.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571500" y="2596753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STATES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814388" y="2866430"/>
            <a:ext cx="6340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HAND: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1534120" y="2866430"/>
            <a:ext cx="12894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Reaching / Ready to grasp.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814388" y="3045023"/>
            <a:ext cx="6750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FIST: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575197" y="3045023"/>
            <a:ext cx="15073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grabbed; task complete.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3337917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ALIGNMENT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71500" y="3550444"/>
            <a:ext cx="4336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X-Y offset between the hand centroid and the object center drives the directional audio instructions.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71500" y="4064794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4277320"/>
            <a:ext cx="4336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Sub-centimeter accuracy enables fine-grained, highly responsive guidance as the hand approaches the target.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029325" y="1307306"/>
            <a:ext cx="2571750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15050" y="1393031"/>
            <a:ext cx="87868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HANDS</a:t>
            </a:r>
            <a:endParaRPr lang="en-US" sz="485" dirty="0"/>
          </a:p>
        </p:txBody>
      </p:sp>
      <p:sp>
        <p:nvSpPr>
          <p:cNvPr id="23" name="Shape 20"/>
          <p:cNvSpPr/>
          <p:nvPr/>
        </p:nvSpPr>
        <p:spPr>
          <a:xfrm>
            <a:off x="7649170" y="3830836"/>
            <a:ext cx="809030" cy="191095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Text 21"/>
          <p:cNvSpPr/>
          <p:nvPr/>
        </p:nvSpPr>
        <p:spPr>
          <a:xfrm>
            <a:off x="7649170" y="3830836"/>
            <a:ext cx="809030" cy="19109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STATE: OPEN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6029325" y="4393406"/>
            <a:ext cx="2571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of </a:t>
            </a:r>
            <a:r>
              <a:rPr lang="en-US" sz="683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3D landmarks</a:t>
            </a: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precise </a:t>
            </a: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hand-to-object alignment.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8591"/>
            <a:ext cx="8001000" cy="720068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Dual-Threshold Logic Delivers Stable, Professional-Grade Audio Instructions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PROBLEM: INSTRUCTION JITTER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84102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threshold-based guidance causes rapid oscillation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"Left… Right… Left…"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when the hand is near the alignment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boundary, making the system confusing.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161291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SOLUTION: HYSTERESIS ALGORITHM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402393"/>
            <a:ext cx="3421856" cy="128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two distinct thresholds for state transitions: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Threshold (Outer):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new directional instruction is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only when the offset exceeds a larger boundary.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Threshold (Inner):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instruction is cancelled only when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offset drops below a smaller boundary.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911036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STABLE GUIDANCE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4152137"/>
            <a:ext cx="34218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stable </a:t>
            </a: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"dead zone"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around alignment. Instructions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issued decisively and cancelled cleanly, ensuring calm and 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 spatial audio feedback.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6642795" y="2978944"/>
            <a:ext cx="43041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6314182" y="2121694"/>
            <a:ext cx="108763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THRESHOLD (LOOSE)</a:t>
            </a:r>
            <a:endParaRPr lang="en-US" sz="485" dirty="0"/>
          </a:p>
        </p:txBody>
      </p:sp>
      <p:sp>
        <p:nvSpPr>
          <p:cNvPr id="16" name="Text 13"/>
          <p:cNvSpPr/>
          <p:nvPr/>
        </p:nvSpPr>
        <p:spPr>
          <a:xfrm>
            <a:off x="6284714" y="1978819"/>
            <a:ext cx="114657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THRESHOLD (TIGHT)</a:t>
            </a:r>
            <a:endParaRPr lang="en-US" sz="485" dirty="0"/>
          </a:p>
        </p:txBody>
      </p:sp>
      <p:sp>
        <p:nvSpPr>
          <p:cNvPr id="17" name="Shape 14"/>
          <p:cNvSpPr/>
          <p:nvPr/>
        </p:nvSpPr>
        <p:spPr>
          <a:xfrm>
            <a:off x="5486400" y="3121819"/>
            <a:ext cx="1130498" cy="196453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121819"/>
            <a:ext cx="1130498" cy="19645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"MOVE RIGHT"</a:t>
            </a:r>
            <a:endParaRPr lang="en-US" sz="534" dirty="0"/>
          </a:p>
        </p:txBody>
      </p:sp>
      <p:sp>
        <p:nvSpPr>
          <p:cNvPr id="19" name="Shape 16"/>
          <p:cNvSpPr/>
          <p:nvPr/>
        </p:nvSpPr>
        <p:spPr>
          <a:xfrm>
            <a:off x="7150894" y="3121819"/>
            <a:ext cx="1078706" cy="196453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50894" y="3121819"/>
            <a:ext cx="1078706" cy="19645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"MOVE LEFT"</a:t>
            </a:r>
            <a:endParaRPr lang="en-US" sz="534" dirty="0"/>
          </a:p>
        </p:txBody>
      </p:sp>
      <p:sp>
        <p:nvSpPr>
          <p:cNvPr id="21" name="Text 18"/>
          <p:cNvSpPr/>
          <p:nvPr/>
        </p:nvSpPr>
        <p:spPr>
          <a:xfrm>
            <a:off x="6380262" y="2427982"/>
            <a:ext cx="955477" cy="17323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 ZONE (SILENCE)</a:t>
            </a:r>
            <a:endParaRPr lang="en-US" sz="485" dirty="0"/>
          </a:p>
        </p:txBody>
      </p:sp>
      <p:sp>
        <p:nvSpPr>
          <p:cNvPr id="22" name="Text 19"/>
          <p:cNvSpPr/>
          <p:nvPr/>
        </p:nvSpPr>
        <p:spPr>
          <a:xfrm>
            <a:off x="5429250" y="3979069"/>
            <a:ext cx="2857500" cy="47148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1D Spatial Offset Axis demonstrating dual-threshold </a:t>
            </a: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transitions for </a:t>
            </a:r>
            <a:r>
              <a:rPr lang="en-US" sz="73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jitter-free</a:t>
            </a:r>
            <a:r>
              <a:rPr lang="en-US" sz="734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interaction.</a:t>
            </a:r>
            <a:endParaRPr lang="en-US" sz="7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746"/>
            <a:ext cx="7445573" cy="445759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DeepSeek-v3 Uses Live Camera Frames to Fix Voice Recognition Errors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3421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 (Whisper) frequently mishears object names due to accents or noise (e.g., "cut" instead of "cup").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1869877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SOLUTION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082403"/>
            <a:ext cx="34218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transcribes the command; the last 4 camera frames are encoded. DeepSeek-v3 uses both to return the most likely object name based on visual context.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571500" y="2768203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980730"/>
            <a:ext cx="3421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accents and phonetically similar object names by grounding audio in the visual scene.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3495080"/>
            <a:ext cx="342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EXECUTION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3707606"/>
            <a:ext cx="3421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correction runs in a background thread, ensuring it does not block the real-time CV pipeline.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143500" y="1260872"/>
            <a:ext cx="3429000" cy="43934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9225" y="1353741"/>
            <a:ext cx="32575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MICROPHONE INPUT</a:t>
            </a:r>
            <a:endParaRPr lang="en-US" sz="485" dirty="0"/>
          </a:p>
        </p:txBody>
      </p:sp>
      <p:sp>
        <p:nvSpPr>
          <p:cNvPr id="18" name="Text 15"/>
          <p:cNvSpPr/>
          <p:nvPr/>
        </p:nvSpPr>
        <p:spPr>
          <a:xfrm>
            <a:off x="5229225" y="1469827"/>
            <a:ext cx="3257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"Find the cup"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6854428" y="1778794"/>
            <a:ext cx="7144" cy="1143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Shape 17"/>
          <p:cNvSpPr/>
          <p:nvPr/>
        </p:nvSpPr>
        <p:spPr>
          <a:xfrm>
            <a:off x="5143500" y="1978819"/>
            <a:ext cx="1671638" cy="564356"/>
          </a:xfrm>
          <a:prstGeom prst="rect">
            <a:avLst/>
          </a:prstGeom>
          <a:solidFill>
            <a:srgbClr val="FFF5F5"/>
          </a:solidFill>
          <a:ln w="9144">
            <a:solidFill>
              <a:srgbClr val="FFBA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29225" y="2064544"/>
            <a:ext cx="149304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ASR</a:t>
            </a:r>
            <a:endParaRPr lang="en-US" sz="485" dirty="0"/>
          </a:p>
        </p:txBody>
      </p:sp>
      <p:sp>
        <p:nvSpPr>
          <p:cNvPr id="22" name="Text 19"/>
          <p:cNvSpPr/>
          <p:nvPr/>
        </p:nvSpPr>
        <p:spPr>
          <a:xfrm>
            <a:off x="5585520" y="2180630"/>
            <a:ext cx="7804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trike="sngStrike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"Find the cut"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6893719" y="1978819"/>
            <a:ext cx="1678781" cy="564356"/>
          </a:xfrm>
          <a:prstGeom prst="rect">
            <a:avLst/>
          </a:prstGeom>
          <a:solidFill>
            <a:srgbClr val="E8F0FE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86588" y="2071688"/>
            <a:ext cx="1500188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BUFFER</a:t>
            </a:r>
            <a:endParaRPr lang="en-US" sz="485" dirty="0"/>
          </a:p>
        </p:txBody>
      </p:sp>
      <p:sp>
        <p:nvSpPr>
          <p:cNvPr id="25" name="Text 22"/>
          <p:cNvSpPr/>
          <p:nvPr/>
        </p:nvSpPr>
        <p:spPr>
          <a:xfrm>
            <a:off x="6986588" y="2187773"/>
            <a:ext cx="150018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Recent Frames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6854428" y="2621756"/>
            <a:ext cx="7144" cy="1143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7" name="Shape 24"/>
          <p:cNvSpPr/>
          <p:nvPr/>
        </p:nvSpPr>
        <p:spPr>
          <a:xfrm>
            <a:off x="5143500" y="2821781"/>
            <a:ext cx="3429000" cy="453628"/>
          </a:xfrm>
          <a:prstGeom prst="rect">
            <a:avLst/>
          </a:prstGeom>
          <a:solidFill>
            <a:srgbClr val="E8F0FE"/>
          </a:solidFill>
          <a:ln w="18288">
            <a:solidFill>
              <a:srgbClr val="0066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29225" y="2921794"/>
            <a:ext cx="32575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LLM</a:t>
            </a:r>
            <a:endParaRPr lang="en-US" sz="485" dirty="0"/>
          </a:p>
        </p:txBody>
      </p:sp>
      <p:sp>
        <p:nvSpPr>
          <p:cNvPr id="29" name="Text 26"/>
          <p:cNvSpPr/>
          <p:nvPr/>
        </p:nvSpPr>
        <p:spPr>
          <a:xfrm>
            <a:off x="5229225" y="3037880"/>
            <a:ext cx="3257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DeepSeek-v3 Vision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6854428" y="3346847"/>
            <a:ext cx="7144" cy="1143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1" name="Shape 28"/>
          <p:cNvSpPr/>
          <p:nvPr/>
        </p:nvSpPr>
        <p:spPr>
          <a:xfrm>
            <a:off x="5143500" y="3546872"/>
            <a:ext cx="3429000" cy="43934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29225" y="3639741"/>
            <a:ext cx="32575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CORRECTED TARGET</a:t>
            </a:r>
            <a:endParaRPr lang="en-US" sz="485" dirty="0"/>
          </a:p>
        </p:txBody>
      </p:sp>
      <p:sp>
        <p:nvSpPr>
          <p:cNvPr id="33" name="Text 30"/>
          <p:cNvSpPr/>
          <p:nvPr/>
        </p:nvSpPr>
        <p:spPr>
          <a:xfrm>
            <a:off x="6691908" y="3755827"/>
            <a:ext cx="3321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"cup"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6854428" y="4064794"/>
            <a:ext cx="7144" cy="1143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5" name="Shape 32"/>
          <p:cNvSpPr/>
          <p:nvPr/>
        </p:nvSpPr>
        <p:spPr>
          <a:xfrm>
            <a:off x="5143500" y="4264819"/>
            <a:ext cx="3429000" cy="43934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29225" y="4357688"/>
            <a:ext cx="32575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DOWNSTREAM TASK</a:t>
            </a:r>
            <a:endParaRPr lang="en-US" sz="485" dirty="0"/>
          </a:p>
        </p:txBody>
      </p:sp>
      <p:sp>
        <p:nvSpPr>
          <p:cNvPr id="37" name="Text 34"/>
          <p:cNvSpPr/>
          <p:nvPr/>
        </p:nvSpPr>
        <p:spPr>
          <a:xfrm>
            <a:off x="5229225" y="4473773"/>
            <a:ext cx="3257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OWL-ViT Detection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8591"/>
            <a:ext cx="8001000" cy="720068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Performance on Consumer Hardware — No Specialized Sensors Needed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000125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FP16 INFERENCE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198364"/>
            <a:ext cx="3879056" cy="16073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models run in FP16, halving memory use and boosting throughput.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1487686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FRAME SKIPPING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1685925"/>
            <a:ext cx="3879056" cy="32146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runs every N frames; depth and hand tracking run each frame to balance accuracy and speed.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571500" y="2135981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AUDIO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334220"/>
            <a:ext cx="3879056" cy="32146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TTS runs in a background thread so audio never blocks the video processing loop.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2784277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HARDWARE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2982516"/>
            <a:ext cx="3879056" cy="32146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25–30 FPS on mid-range GPUs (e.g., NVIDIA RTX 3060) without LiDAR or special sensors.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571500" y="3432572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LATENCY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71500" y="3630811"/>
            <a:ext cx="3879056" cy="16073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latency is under 200ms for intuitive, real-time feedback.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029200" y="857250"/>
            <a:ext cx="41148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457825" y="1677888"/>
            <a:ext cx="3257550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43550" y="1763613"/>
            <a:ext cx="11215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FPS STABILITY</a:t>
            </a:r>
            <a:endParaRPr lang="en-US" sz="48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1792188"/>
            <a:ext cx="3014663" cy="16144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57825" y="3678138"/>
            <a:ext cx="1571625" cy="64472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72125" y="3792438"/>
            <a:ext cx="13430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28.5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5572125" y="4097834"/>
            <a:ext cx="13430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FPS</a:t>
            </a:r>
            <a:endParaRPr lang="en-US" sz="534" dirty="0"/>
          </a:p>
        </p:txBody>
      </p:sp>
      <p:sp>
        <p:nvSpPr>
          <p:cNvPr id="24" name="Shape 20"/>
          <p:cNvSpPr/>
          <p:nvPr/>
        </p:nvSpPr>
        <p:spPr>
          <a:xfrm>
            <a:off x="7143750" y="3678138"/>
            <a:ext cx="1571625" cy="64472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58050" y="3799582"/>
            <a:ext cx="13430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&lt;200</a:t>
            </a:r>
            <a:r>
              <a:rPr lang="en-US" sz="78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02" dirty="0"/>
          </a:p>
        </p:txBody>
      </p:sp>
      <p:sp>
        <p:nvSpPr>
          <p:cNvPr id="26" name="Text 22"/>
          <p:cNvSpPr/>
          <p:nvPr/>
        </p:nvSpPr>
        <p:spPr>
          <a:xfrm>
            <a:off x="7258050" y="4104977"/>
            <a:ext cx="13430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LATENCY</a:t>
            </a:r>
            <a:endParaRPr lang="en-US" sz="5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8591"/>
            <a:ext cx="8001000" cy="720068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CV Assist Demonstrates That Consumer AI Can Meaningfully Restore Independence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Assist provides visually impaired users with a practical, low-cost "virtual eye" for independent object grasping — a task previously requiring sighted assistance.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71500" y="1869877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ACHIEVEMENT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082403"/>
            <a:ext cx="4336256" cy="3429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integrates four state-of-the-art AI modules (OWL-ViT, MiDaS, MediaPipe, DeepSeek LLM-Vision) into a coherent, real-time pipeline.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571500" y="2596753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42950" y="2866430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open-vocabulary object search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42950" y="3045023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Hysteresis-based jitter-free spatial guidance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42950" y="3223617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LLM-Vision multimodal ASR error correction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3516511"/>
            <a:ext cx="4336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DIRECTIONS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42950" y="3786188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gesture vocabulary for richer interaction.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42950" y="3964781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edge devices (Raspberry Pi 5, NVIDIA Jetson).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742950" y="4143375"/>
            <a:ext cx="4164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haptic feedback (vibration wristband).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5772150" y="1855059"/>
            <a:ext cx="3086100" cy="1688771"/>
          </a:xfrm>
          <a:prstGeom prst="rect">
            <a:avLst/>
          </a:prstGeom>
          <a:solidFill>
            <a:srgbClr val="FFFFFF"/>
          </a:solidFill>
          <a:ln w="9144">
            <a:solidFill>
              <a:srgbClr val="0066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1790765"/>
            <a:ext cx="751880" cy="87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0" y="1790765"/>
            <a:ext cx="751880" cy="87511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485" dirty="0"/>
          </a:p>
        </p:txBody>
      </p:sp>
      <p:sp>
        <p:nvSpPr>
          <p:cNvPr id="23" name="Shape 20"/>
          <p:cNvSpPr/>
          <p:nvPr/>
        </p:nvSpPr>
        <p:spPr>
          <a:xfrm>
            <a:off x="5943600" y="1790765"/>
            <a:ext cx="751880" cy="87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1790765"/>
            <a:ext cx="751880" cy="87511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485" dirty="0"/>
          </a:p>
        </p:txBody>
      </p:sp>
      <p:sp>
        <p:nvSpPr>
          <p:cNvPr id="25" name="Text 22"/>
          <p:cNvSpPr/>
          <p:nvPr/>
        </p:nvSpPr>
        <p:spPr>
          <a:xfrm>
            <a:off x="6057900" y="2147953"/>
            <a:ext cx="25146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274" dirty="0">
                <a:solidFill>
                  <a:srgbClr val="0066CC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3274" dirty="0"/>
          </a:p>
        </p:txBody>
      </p:sp>
      <p:sp>
        <p:nvSpPr>
          <p:cNvPr id="26" name="Text 23"/>
          <p:cNvSpPr/>
          <p:nvPr/>
        </p:nvSpPr>
        <p:spPr>
          <a:xfrm>
            <a:off x="6057900" y="2690878"/>
            <a:ext cx="25146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Seeing the world,</a:t>
            </a:r>
            <a:r>
              <a:rPr lang="en-US" sz="1397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397" b="1" dirty="0">
                <a:solidFill>
                  <a:srgbClr val="0066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object at a time.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243638" y="3822436"/>
            <a:ext cx="2143125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FUTURE WHERE AI-POWERED COMPUTER VISION IS A STANDARD ACCESSIBILITY LAYER.</a:t>
            </a:r>
            <a:endParaRPr lang="en-US" sz="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2026-04-09T06:37:57Z</dcterms:created>
  <dcterms:modified xsi:type="dcterms:W3CDTF">2026-04-09T06:37:57Z</dcterms:modified>
</cp:coreProperties>
</file>