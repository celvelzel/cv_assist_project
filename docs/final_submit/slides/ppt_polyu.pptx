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2901" y="285750"/>
            <a:ext cx="2143125" cy="150839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51" y="571500"/>
            <a:ext cx="1800225" cy="9368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80404" y="342900"/>
            <a:ext cx="5577846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 Assist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3280404" y="960109"/>
            <a:ext cx="5577846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92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Real-Time Visual Assistance System</a:t>
            </a:r>
            <a:endParaRPr lang="en-US" sz="2592" dirty="0"/>
          </a:p>
        </p:txBody>
      </p:sp>
      <p:sp>
        <p:nvSpPr>
          <p:cNvPr id="7" name="Text 3"/>
          <p:cNvSpPr/>
          <p:nvPr/>
        </p:nvSpPr>
        <p:spPr>
          <a:xfrm>
            <a:off x="3280404" y="1451577"/>
            <a:ext cx="5577846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92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the Visually Impaired</a:t>
            </a:r>
            <a:endParaRPr lang="en-US" sz="2592" dirty="0"/>
          </a:p>
        </p:txBody>
      </p:sp>
      <p:sp>
        <p:nvSpPr>
          <p:cNvPr id="8" name="Text 4"/>
          <p:cNvSpPr/>
          <p:nvPr/>
        </p:nvSpPr>
        <p:spPr>
          <a:xfrm>
            <a:off x="3280404" y="2469952"/>
            <a:ext cx="557784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244" b="1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Technologies:</a:t>
            </a:r>
            <a:endParaRPr lang="en-US" sz="1244" dirty="0"/>
          </a:p>
        </p:txBody>
      </p:sp>
      <p:sp>
        <p:nvSpPr>
          <p:cNvPr id="9" name="Text 5"/>
          <p:cNvSpPr/>
          <p:nvPr/>
        </p:nvSpPr>
        <p:spPr>
          <a:xfrm>
            <a:off x="3280404" y="2791420"/>
            <a:ext cx="557784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23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Open-Vocabulary Detection (OWL-ViT v2)</a:t>
            </a:r>
            <a:endParaRPr lang="en-US" sz="1323" dirty="0"/>
          </a:p>
        </p:txBody>
      </p:sp>
      <p:sp>
        <p:nvSpPr>
          <p:cNvPr id="10" name="Text 6"/>
          <p:cNvSpPr/>
          <p:nvPr/>
        </p:nvSpPr>
        <p:spPr>
          <a:xfrm>
            <a:off x="3280404" y="3112889"/>
            <a:ext cx="557784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23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Monocular Depth Estimation (MiDaS)</a:t>
            </a:r>
            <a:endParaRPr lang="en-US" sz="1323" dirty="0"/>
          </a:p>
        </p:txBody>
      </p:sp>
      <p:sp>
        <p:nvSpPr>
          <p:cNvPr id="11" name="Text 7"/>
          <p:cNvSpPr/>
          <p:nvPr/>
        </p:nvSpPr>
        <p:spPr>
          <a:xfrm>
            <a:off x="3280404" y="3434358"/>
            <a:ext cx="557784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23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Hand Tracking (MediaPipe)</a:t>
            </a:r>
            <a:endParaRPr lang="en-US" sz="1323" dirty="0"/>
          </a:p>
        </p:txBody>
      </p:sp>
      <p:sp>
        <p:nvSpPr>
          <p:cNvPr id="12" name="Text 8"/>
          <p:cNvSpPr/>
          <p:nvPr/>
        </p:nvSpPr>
        <p:spPr>
          <a:xfrm>
            <a:off x="3280404" y="3755827"/>
            <a:ext cx="557784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23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LLM-Vision Error Correction</a:t>
            </a:r>
            <a:endParaRPr lang="en-US" sz="1323" dirty="0"/>
          </a:p>
        </p:txBody>
      </p:sp>
      <p:sp>
        <p:nvSpPr>
          <p:cNvPr id="13" name="Text 9"/>
          <p:cNvSpPr/>
          <p:nvPr/>
        </p:nvSpPr>
        <p:spPr>
          <a:xfrm>
            <a:off x="3280404" y="4477345"/>
            <a:ext cx="5577846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44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Developer:</a:t>
            </a:r>
            <a:r>
              <a:rPr lang="en-US" sz="1323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CV Assist Team</a:t>
            </a:r>
            <a:endParaRPr lang="en-US" sz="124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9A0907"/>
          </a:solidFill>
          <a:ln/>
        </p:spPr>
      </p:sp>
      <p:sp>
        <p:nvSpPr>
          <p:cNvPr id="4" name="Text 1"/>
          <p:cNvSpPr/>
          <p:nvPr/>
        </p:nvSpPr>
        <p:spPr>
          <a:xfrm>
            <a:off x="-349011" y="2361009"/>
            <a:ext cx="3555523" cy="421481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216" spc="14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3216" dirty="0"/>
          </a:p>
        </p:txBody>
      </p:sp>
      <p:sp>
        <p:nvSpPr>
          <p:cNvPr id="5" name="Shape 2"/>
          <p:cNvSpPr/>
          <p:nvPr/>
        </p:nvSpPr>
        <p:spPr>
          <a:xfrm>
            <a:off x="3057525" y="0"/>
            <a:ext cx="6086475" cy="5143500"/>
          </a:xfrm>
          <a:prstGeom prst="rect">
            <a:avLst/>
          </a:prstGeom>
          <a:solidFill>
            <a:srgbClr val="E8E9EF"/>
          </a:solidFill>
          <a:ln/>
        </p:spPr>
      </p:sp>
      <p:sp>
        <p:nvSpPr>
          <p:cNvPr id="6" name="Shape 3"/>
          <p:cNvSpPr/>
          <p:nvPr/>
        </p:nvSpPr>
        <p:spPr>
          <a:xfrm>
            <a:off x="3457575" y="685800"/>
            <a:ext cx="571500" cy="571500"/>
          </a:xfrm>
          <a:prstGeom prst="ellipse">
            <a:avLst/>
          </a:prstGeom>
          <a:solidFill>
            <a:srgbClr val="9A0907"/>
          </a:solidFill>
          <a:ln/>
        </p:spPr>
      </p:sp>
      <p:sp>
        <p:nvSpPr>
          <p:cNvPr id="7" name="Text 4"/>
          <p:cNvSpPr/>
          <p:nvPr/>
        </p:nvSpPr>
        <p:spPr>
          <a:xfrm>
            <a:off x="3457575" y="6858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haroni CLM Bold" pitchFamily="34" charset="0"/>
                <a:ea typeface="Aharoni CLM Bold" pitchFamily="34" charset="-122"/>
                <a:cs typeface="Aharoni CLM Bold" pitchFamily="34" charset="-120"/>
              </a:rPr>
              <a:t>1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257675" y="810816"/>
            <a:ext cx="340706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4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Motivation &amp; Challenges</a:t>
            </a:r>
            <a:endParaRPr lang="en-US" sz="1924" dirty="0"/>
          </a:p>
        </p:txBody>
      </p:sp>
      <p:sp>
        <p:nvSpPr>
          <p:cNvPr id="9" name="Shape 6"/>
          <p:cNvSpPr/>
          <p:nvPr/>
        </p:nvSpPr>
        <p:spPr>
          <a:xfrm>
            <a:off x="3457575" y="1485900"/>
            <a:ext cx="571500" cy="571500"/>
          </a:xfrm>
          <a:prstGeom prst="ellipse">
            <a:avLst/>
          </a:prstGeom>
          <a:solidFill>
            <a:srgbClr val="9A0907"/>
          </a:solidFill>
          <a:ln/>
        </p:spPr>
      </p:sp>
      <p:sp>
        <p:nvSpPr>
          <p:cNvPr id="10" name="Text 7"/>
          <p:cNvSpPr/>
          <p:nvPr/>
        </p:nvSpPr>
        <p:spPr>
          <a:xfrm>
            <a:off x="3457575" y="14859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haroni CLM Bold" pitchFamily="34" charset="0"/>
                <a:ea typeface="Aharoni CLM Bold" pitchFamily="34" charset="-122"/>
                <a:cs typeface="Aharoni CLM Bold" pitchFamily="34" charset="-120"/>
              </a:rPr>
              <a:t>2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257675" y="1610916"/>
            <a:ext cx="288543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4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Design</a:t>
            </a:r>
            <a:endParaRPr lang="en-US" sz="1924" dirty="0"/>
          </a:p>
        </p:txBody>
      </p:sp>
      <p:sp>
        <p:nvSpPr>
          <p:cNvPr id="12" name="Shape 9"/>
          <p:cNvSpPr/>
          <p:nvPr/>
        </p:nvSpPr>
        <p:spPr>
          <a:xfrm>
            <a:off x="3457575" y="2286000"/>
            <a:ext cx="571500" cy="571500"/>
          </a:xfrm>
          <a:prstGeom prst="ellipse">
            <a:avLst/>
          </a:prstGeom>
          <a:solidFill>
            <a:srgbClr val="9A0907"/>
          </a:solidFill>
          <a:ln/>
        </p:spPr>
      </p:sp>
      <p:sp>
        <p:nvSpPr>
          <p:cNvPr id="13" name="Text 10"/>
          <p:cNvSpPr/>
          <p:nvPr/>
        </p:nvSpPr>
        <p:spPr>
          <a:xfrm>
            <a:off x="3457575" y="22860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haroni CLM Bold" pitchFamily="34" charset="0"/>
                <a:ea typeface="Aharoni CLM Bold" pitchFamily="34" charset="-122"/>
                <a:cs typeface="Aharoni CLM Bold" pitchFamily="34" charset="-120"/>
              </a:rPr>
              <a:t>3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257675" y="2411016"/>
            <a:ext cx="309112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4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Perception Technologies</a:t>
            </a:r>
            <a:endParaRPr lang="en-US" sz="1924" dirty="0"/>
          </a:p>
        </p:txBody>
      </p:sp>
      <p:sp>
        <p:nvSpPr>
          <p:cNvPr id="15" name="Shape 12"/>
          <p:cNvSpPr/>
          <p:nvPr/>
        </p:nvSpPr>
        <p:spPr>
          <a:xfrm>
            <a:off x="3457575" y="3086100"/>
            <a:ext cx="571500" cy="571500"/>
          </a:xfrm>
          <a:prstGeom prst="ellipse">
            <a:avLst/>
          </a:prstGeom>
          <a:solidFill>
            <a:srgbClr val="9A0907"/>
          </a:solidFill>
          <a:ln/>
        </p:spPr>
      </p:sp>
      <p:sp>
        <p:nvSpPr>
          <p:cNvPr id="16" name="Text 13"/>
          <p:cNvSpPr/>
          <p:nvPr/>
        </p:nvSpPr>
        <p:spPr>
          <a:xfrm>
            <a:off x="3457575" y="30861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haroni CLM Bold" pitchFamily="34" charset="0"/>
                <a:ea typeface="Aharoni CLM Bold" pitchFamily="34" charset="-122"/>
                <a:cs typeface="Aharoni CLM Bold" pitchFamily="34" charset="-120"/>
              </a:rPr>
              <a:t>4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4257675" y="3211116"/>
            <a:ext cx="373545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4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 &amp; Stability Optimization</a:t>
            </a:r>
            <a:endParaRPr lang="en-US" sz="1924" dirty="0"/>
          </a:p>
        </p:txBody>
      </p:sp>
      <p:sp>
        <p:nvSpPr>
          <p:cNvPr id="18" name="Shape 15"/>
          <p:cNvSpPr/>
          <p:nvPr/>
        </p:nvSpPr>
        <p:spPr>
          <a:xfrm>
            <a:off x="3457575" y="3886200"/>
            <a:ext cx="571500" cy="571500"/>
          </a:xfrm>
          <a:prstGeom prst="ellipse">
            <a:avLst/>
          </a:prstGeom>
          <a:solidFill>
            <a:srgbClr val="9A0907"/>
          </a:solidFill>
          <a:ln/>
        </p:spPr>
      </p:sp>
      <p:sp>
        <p:nvSpPr>
          <p:cNvPr id="19" name="Text 16"/>
          <p:cNvSpPr/>
          <p:nvPr/>
        </p:nvSpPr>
        <p:spPr>
          <a:xfrm>
            <a:off x="3457575" y="38862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haroni CLM Bold" pitchFamily="34" charset="0"/>
                <a:ea typeface="Aharoni CLM Bold" pitchFamily="34" charset="-122"/>
                <a:cs typeface="Aharoni CLM Bold" pitchFamily="34" charset="-120"/>
              </a:rPr>
              <a:t>5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4257675" y="4011216"/>
            <a:ext cx="279627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4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192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71475"/>
            <a:ext cx="3529013" cy="7422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29072" y="1285177"/>
            <a:ext cx="6858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292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5292" dirty="0"/>
          </a:p>
        </p:txBody>
      </p:sp>
      <p:sp>
        <p:nvSpPr>
          <p:cNvPr id="5" name="Text 1"/>
          <p:cNvSpPr/>
          <p:nvPr/>
        </p:nvSpPr>
        <p:spPr>
          <a:xfrm>
            <a:off x="4204795" y="2056702"/>
            <a:ext cx="73438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69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1526642" y="2759636"/>
            <a:ext cx="6090717" cy="52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504" i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Motivation &amp; Challenges</a:t>
            </a:r>
            <a:endParaRPr lang="en-US" sz="350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57150"/>
            <a:ext cx="2286000" cy="4808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37958"/>
            <a:ext cx="1928813" cy="4462667"/>
          </a:xfrm>
          <a:prstGeom prst="rect">
            <a:avLst/>
          </a:prstGeom>
          <a:solidFill>
            <a:srgbClr val="9A0907"/>
          </a:solidFill>
          <a:ln/>
        </p:spPr>
      </p:sp>
      <p:sp>
        <p:nvSpPr>
          <p:cNvPr id="5" name="Shape 1"/>
          <p:cNvSpPr/>
          <p:nvPr/>
        </p:nvSpPr>
        <p:spPr>
          <a:xfrm>
            <a:off x="57150" y="1159464"/>
            <a:ext cx="1714500" cy="371475"/>
          </a:xfrm>
          <a:prstGeom prst="rect">
            <a:avLst/>
          </a:prstGeom>
          <a:solidFill>
            <a:srgbClr val="E8E9E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" y="1159464"/>
            <a:ext cx="1714500" cy="371475"/>
          </a:xfrm>
          <a:prstGeom prst="rect">
            <a:avLst/>
          </a:prstGeom>
          <a:noFill/>
          <a:ln/>
        </p:spPr>
        <p:txBody>
          <a:bodyPr wrap="square" lIns="272161" tIns="102108" rIns="272161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4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104" dirty="0"/>
          </a:p>
        </p:txBody>
      </p:sp>
      <p:sp>
        <p:nvSpPr>
          <p:cNvPr id="7" name="Text 3"/>
          <p:cNvSpPr/>
          <p:nvPr/>
        </p:nvSpPr>
        <p:spPr>
          <a:xfrm>
            <a:off x="396673" y="1645239"/>
            <a:ext cx="1135438" cy="200025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1104" dirty="0"/>
          </a:p>
        </p:txBody>
      </p:sp>
      <p:sp>
        <p:nvSpPr>
          <p:cNvPr id="8" name="Text 4"/>
          <p:cNvSpPr/>
          <p:nvPr/>
        </p:nvSpPr>
        <p:spPr>
          <a:xfrm>
            <a:off x="372647" y="2081008"/>
            <a:ext cx="1183491" cy="200025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</a:t>
            </a:r>
            <a:endParaRPr lang="en-US" sz="1104" dirty="0"/>
          </a:p>
        </p:txBody>
      </p:sp>
      <p:sp>
        <p:nvSpPr>
          <p:cNvPr id="9" name="Text 5"/>
          <p:cNvSpPr/>
          <p:nvPr/>
        </p:nvSpPr>
        <p:spPr>
          <a:xfrm>
            <a:off x="433369" y="2516777"/>
            <a:ext cx="1062075" cy="200025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104" dirty="0"/>
          </a:p>
        </p:txBody>
      </p:sp>
      <p:sp>
        <p:nvSpPr>
          <p:cNvPr id="10" name="Text 6"/>
          <p:cNvSpPr/>
          <p:nvPr/>
        </p:nvSpPr>
        <p:spPr>
          <a:xfrm>
            <a:off x="1928813" y="537958"/>
            <a:ext cx="7215188" cy="614363"/>
          </a:xfrm>
          <a:prstGeom prst="rect">
            <a:avLst/>
          </a:prstGeom>
          <a:noFill/>
          <a:ln/>
        </p:spPr>
        <p:txBody>
          <a:bodyPr wrap="square" lIns="544322" tIns="272161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24" spc="1" kern="0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Motivation: Breaking Barriers</a:t>
            </a:r>
            <a:endParaRPr lang="en-US" sz="1924" dirty="0"/>
          </a:p>
        </p:txBody>
      </p:sp>
      <p:sp>
        <p:nvSpPr>
          <p:cNvPr id="11" name="Shape 7"/>
          <p:cNvSpPr/>
          <p:nvPr/>
        </p:nvSpPr>
        <p:spPr>
          <a:xfrm>
            <a:off x="2386013" y="1366633"/>
            <a:ext cx="4275758" cy="1928813"/>
          </a:xfrm>
          <a:prstGeom prst="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71738" y="1452358"/>
            <a:ext cx="410430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"Existing tools lack real-time, intuitive spatial guidance for daily object interaction."</a:t>
            </a:r>
            <a:endParaRPr lang="en-US" sz="1269" dirty="0"/>
          </a:p>
        </p:txBody>
      </p:sp>
      <p:sp>
        <p:nvSpPr>
          <p:cNvPr id="13" name="Shape 9"/>
          <p:cNvSpPr/>
          <p:nvPr/>
        </p:nvSpPr>
        <p:spPr>
          <a:xfrm>
            <a:off x="2471738" y="2052433"/>
            <a:ext cx="1995004" cy="11430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Text 10"/>
          <p:cNvSpPr/>
          <p:nvPr/>
        </p:nvSpPr>
        <p:spPr>
          <a:xfrm>
            <a:off x="2471738" y="2052433"/>
            <a:ext cx="1995004" cy="11430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Blurred Perspective (Current)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4581041" y="2052433"/>
            <a:ext cx="1995004" cy="11430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6" name="Text 12"/>
          <p:cNvSpPr/>
          <p:nvPr/>
        </p:nvSpPr>
        <p:spPr>
          <a:xfrm>
            <a:off x="4581041" y="2052433"/>
            <a:ext cx="1995004" cy="11430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CV Assist Guided (Goal)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6833220" y="1366633"/>
            <a:ext cx="2025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4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Pain Point:</a:t>
            </a:r>
            <a:r>
              <a:rPr lang="en-US" sz="1704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704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Independent Grasping</a:t>
            </a:r>
            <a:endParaRPr lang="en-US" sz="1704" dirty="0"/>
          </a:p>
        </p:txBody>
      </p:sp>
      <p:sp>
        <p:nvSpPr>
          <p:cNvPr id="18" name="Shape 14"/>
          <p:cNvSpPr/>
          <p:nvPr/>
        </p:nvSpPr>
        <p:spPr>
          <a:xfrm>
            <a:off x="2386013" y="3395458"/>
            <a:ext cx="6472238" cy="1128713"/>
          </a:xfrm>
          <a:prstGeom prst="rect">
            <a:avLst/>
          </a:prstGeom>
          <a:solidFill>
            <a:srgbClr val="E8E9EF"/>
          </a:solidFill>
          <a:ln/>
        </p:spPr>
      </p:sp>
      <p:sp>
        <p:nvSpPr>
          <p:cNvPr id="19" name="Text 15"/>
          <p:cNvSpPr/>
          <p:nvPr/>
        </p:nvSpPr>
        <p:spPr>
          <a:xfrm>
            <a:off x="2500313" y="3509758"/>
            <a:ext cx="62436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3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Goals &amp; Vision</a:t>
            </a:r>
            <a:endParaRPr lang="en-US" sz="1193" dirty="0"/>
          </a:p>
        </p:txBody>
      </p:sp>
      <p:sp>
        <p:nvSpPr>
          <p:cNvPr id="20" name="Text 16"/>
          <p:cNvSpPr/>
          <p:nvPr/>
        </p:nvSpPr>
        <p:spPr>
          <a:xfrm>
            <a:off x="2500313" y="3852658"/>
            <a:ext cx="19669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2500313" y="4024108"/>
            <a:ext cx="196690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Millisecond visual feedback &amp; voice commands</a:t>
            </a:r>
            <a:endParaRPr lang="en-US" sz="942" dirty="0"/>
          </a:p>
        </p:txBody>
      </p:sp>
      <p:sp>
        <p:nvSpPr>
          <p:cNvPr id="22" name="Text 18"/>
          <p:cNvSpPr/>
          <p:nvPr/>
        </p:nvSpPr>
        <p:spPr>
          <a:xfrm>
            <a:off x="4638666" y="3852658"/>
            <a:ext cx="19669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Versatility</a:t>
            </a:r>
            <a:endParaRPr lang="en-US" sz="784" dirty="0"/>
          </a:p>
        </p:txBody>
      </p:sp>
      <p:sp>
        <p:nvSpPr>
          <p:cNvPr id="23" name="Text 19"/>
          <p:cNvSpPr/>
          <p:nvPr/>
        </p:nvSpPr>
        <p:spPr>
          <a:xfrm>
            <a:off x="4638666" y="4024108"/>
            <a:ext cx="196690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for any object via open-vocabulary search</a:t>
            </a:r>
            <a:endParaRPr lang="en-US" sz="942" dirty="0"/>
          </a:p>
        </p:txBody>
      </p:sp>
      <p:sp>
        <p:nvSpPr>
          <p:cNvPr id="24" name="Text 20"/>
          <p:cNvSpPr/>
          <p:nvPr/>
        </p:nvSpPr>
        <p:spPr>
          <a:xfrm>
            <a:off x="6777019" y="3852658"/>
            <a:ext cx="19669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Intuitiveness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6777019" y="4024108"/>
            <a:ext cx="19669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Natural language guidance for precise touch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71450"/>
            <a:ext cx="3000375" cy="6310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02500"/>
            <a:ext cx="1928813" cy="3983813"/>
          </a:xfrm>
          <a:prstGeom prst="rect">
            <a:avLst/>
          </a:prstGeom>
          <a:solidFill>
            <a:srgbClr val="9A0907"/>
          </a:solidFill>
          <a:ln/>
        </p:spPr>
      </p:sp>
      <p:sp>
        <p:nvSpPr>
          <p:cNvPr id="5" name="Shape 1"/>
          <p:cNvSpPr/>
          <p:nvPr/>
        </p:nvSpPr>
        <p:spPr>
          <a:xfrm>
            <a:off x="57150" y="1538306"/>
            <a:ext cx="1714500" cy="371475"/>
          </a:xfrm>
          <a:prstGeom prst="rect">
            <a:avLst/>
          </a:prstGeom>
          <a:solidFill>
            <a:srgbClr val="E8E9E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" y="1538306"/>
            <a:ext cx="1714500" cy="371475"/>
          </a:xfrm>
          <a:prstGeom prst="rect">
            <a:avLst/>
          </a:prstGeom>
          <a:noFill/>
          <a:ln/>
        </p:spPr>
        <p:txBody>
          <a:bodyPr wrap="square" lIns="272161" tIns="102108" rIns="272161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4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1104" dirty="0"/>
          </a:p>
        </p:txBody>
      </p:sp>
      <p:sp>
        <p:nvSpPr>
          <p:cNvPr id="7" name="Text 3"/>
          <p:cNvSpPr/>
          <p:nvPr/>
        </p:nvSpPr>
        <p:spPr>
          <a:xfrm>
            <a:off x="293005" y="2138381"/>
            <a:ext cx="1342774" cy="200025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104" dirty="0"/>
          </a:p>
        </p:txBody>
      </p:sp>
      <p:sp>
        <p:nvSpPr>
          <p:cNvPr id="8" name="Text 4"/>
          <p:cNvSpPr/>
          <p:nvPr/>
        </p:nvSpPr>
        <p:spPr>
          <a:xfrm>
            <a:off x="372647" y="2567006"/>
            <a:ext cx="1183491" cy="200025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</a:t>
            </a:r>
            <a:endParaRPr lang="en-US" sz="1104" dirty="0"/>
          </a:p>
        </p:txBody>
      </p:sp>
      <p:sp>
        <p:nvSpPr>
          <p:cNvPr id="9" name="Text 5"/>
          <p:cNvSpPr/>
          <p:nvPr/>
        </p:nvSpPr>
        <p:spPr>
          <a:xfrm>
            <a:off x="433369" y="2995631"/>
            <a:ext cx="1062075" cy="200025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104" dirty="0"/>
          </a:p>
        </p:txBody>
      </p:sp>
      <p:sp>
        <p:nvSpPr>
          <p:cNvPr id="10" name="Text 6"/>
          <p:cNvSpPr/>
          <p:nvPr/>
        </p:nvSpPr>
        <p:spPr>
          <a:xfrm>
            <a:off x="1928813" y="802500"/>
            <a:ext cx="7215188" cy="560784"/>
          </a:xfrm>
          <a:prstGeom prst="rect">
            <a:avLst/>
          </a:prstGeom>
          <a:noFill/>
          <a:ln/>
        </p:spPr>
        <p:txBody>
          <a:bodyPr wrap="square" lIns="544322" tIns="272161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49" spc="1" kern="0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Architecture: Modular Pipeline Design</a:t>
            </a:r>
            <a:endParaRPr lang="en-US" sz="1649" dirty="0"/>
          </a:p>
        </p:txBody>
      </p:sp>
      <p:sp>
        <p:nvSpPr>
          <p:cNvPr id="11" name="Shape 7"/>
          <p:cNvSpPr/>
          <p:nvPr/>
        </p:nvSpPr>
        <p:spPr>
          <a:xfrm>
            <a:off x="2500313" y="2346136"/>
            <a:ext cx="1285875" cy="757238"/>
          </a:xfrm>
          <a:prstGeom prst="rect">
            <a:avLst/>
          </a:prstGeom>
          <a:solidFill>
            <a:srgbClr val="F9F9F9"/>
          </a:solidFill>
          <a:ln w="18288">
            <a:solidFill>
              <a:srgbClr val="9A090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07469" y="2467580"/>
            <a:ext cx="1071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A09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 Layer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2607469" y="2696180"/>
            <a:ext cx="1071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RGB Video Stream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Voice Commands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3826650" y="2717611"/>
            <a:ext cx="285750" cy="14288"/>
          </a:xfrm>
          <a:prstGeom prst="rect">
            <a:avLst/>
          </a:prstGeom>
          <a:solidFill>
            <a:srgbClr val="9A0907"/>
          </a:solidFill>
          <a:ln/>
        </p:spPr>
      </p:sp>
      <p:sp>
        <p:nvSpPr>
          <p:cNvPr id="15" name="Shape 11"/>
          <p:cNvSpPr/>
          <p:nvPr/>
        </p:nvSpPr>
        <p:spPr>
          <a:xfrm>
            <a:off x="4152863" y="2274698"/>
            <a:ext cx="1285875" cy="900113"/>
          </a:xfrm>
          <a:prstGeom prst="rect">
            <a:avLst/>
          </a:prstGeom>
          <a:solidFill>
            <a:srgbClr val="F9F9F9"/>
          </a:solidFill>
          <a:ln w="18288">
            <a:solidFill>
              <a:srgbClr val="9A0907"/>
            </a:solidFill>
            <a:prstDash val="dash"/>
          </a:ln>
        </p:spPr>
      </p:sp>
      <p:sp>
        <p:nvSpPr>
          <p:cNvPr id="16" name="Text 12"/>
          <p:cNvSpPr/>
          <p:nvPr/>
        </p:nvSpPr>
        <p:spPr>
          <a:xfrm>
            <a:off x="4260019" y="2396142"/>
            <a:ext cx="1071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A09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Perception Layer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4260019" y="2624742"/>
            <a:ext cx="1071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OWL-ViT (Detection)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MiDaS (Depth)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MediaPipe (Hand)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5479200" y="2717611"/>
            <a:ext cx="285750" cy="14288"/>
          </a:xfrm>
          <a:prstGeom prst="rect">
            <a:avLst/>
          </a:prstGeom>
          <a:solidFill>
            <a:srgbClr val="9A0907"/>
          </a:solidFill>
          <a:ln/>
        </p:spPr>
      </p:sp>
      <p:sp>
        <p:nvSpPr>
          <p:cNvPr id="19" name="Shape 15"/>
          <p:cNvSpPr/>
          <p:nvPr/>
        </p:nvSpPr>
        <p:spPr>
          <a:xfrm>
            <a:off x="5805413" y="2346136"/>
            <a:ext cx="1285875" cy="757238"/>
          </a:xfrm>
          <a:prstGeom prst="rect">
            <a:avLst/>
          </a:prstGeom>
          <a:solidFill>
            <a:srgbClr val="F9F9F9"/>
          </a:solidFill>
          <a:ln w="18288">
            <a:solidFill>
              <a:srgbClr val="9A090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12569" y="2467580"/>
            <a:ext cx="1071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A09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 Layer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5912569" y="2696180"/>
            <a:ext cx="1071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Hysteresis Algorithm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LLM Error Correction</a:t>
            </a:r>
            <a:endParaRPr lang="en-US" sz="727" dirty="0"/>
          </a:p>
        </p:txBody>
      </p:sp>
      <p:sp>
        <p:nvSpPr>
          <p:cNvPr id="22" name="Shape 18"/>
          <p:cNvSpPr/>
          <p:nvPr/>
        </p:nvSpPr>
        <p:spPr>
          <a:xfrm>
            <a:off x="7131751" y="2717611"/>
            <a:ext cx="285750" cy="14288"/>
          </a:xfrm>
          <a:prstGeom prst="rect">
            <a:avLst/>
          </a:prstGeom>
          <a:solidFill>
            <a:srgbClr val="9A0907"/>
          </a:solidFill>
          <a:ln/>
        </p:spPr>
      </p:sp>
      <p:sp>
        <p:nvSpPr>
          <p:cNvPr id="23" name="Shape 19"/>
          <p:cNvSpPr/>
          <p:nvPr/>
        </p:nvSpPr>
        <p:spPr>
          <a:xfrm>
            <a:off x="7457963" y="2346136"/>
            <a:ext cx="1285875" cy="757238"/>
          </a:xfrm>
          <a:prstGeom prst="rect">
            <a:avLst/>
          </a:prstGeom>
          <a:solidFill>
            <a:srgbClr val="F9F9F9"/>
          </a:solidFill>
          <a:ln w="18288">
            <a:solidFill>
              <a:srgbClr val="9A090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65120" y="2467580"/>
            <a:ext cx="1071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A09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 Layer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7565120" y="2696180"/>
            <a:ext cx="1071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Audio (TTS)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r>
              <a:rPr lang="en-US" sz="72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 Assistance UI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2505419" y="3617723"/>
            <a:ext cx="30024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Decoupled Design:</a:t>
            </a: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Modular pipeline ensures </a:t>
            </a: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independent optimization of each detector.</a:t>
            </a:r>
            <a:endParaRPr lang="en-US" sz="987" dirty="0"/>
          </a:p>
        </p:txBody>
      </p:sp>
      <p:sp>
        <p:nvSpPr>
          <p:cNvPr id="27" name="Text 23"/>
          <p:cNvSpPr/>
          <p:nvPr/>
        </p:nvSpPr>
        <p:spPr>
          <a:xfrm>
            <a:off x="5856480" y="3617723"/>
            <a:ext cx="3001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Fusion:</a:t>
            </a: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Combining visual depth and </a:t>
            </a: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voice semantics for robust guidance.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71475"/>
            <a:ext cx="3529013" cy="7422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29072" y="1285177"/>
            <a:ext cx="6858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292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5292" dirty="0"/>
          </a:p>
        </p:txBody>
      </p:sp>
      <p:sp>
        <p:nvSpPr>
          <p:cNvPr id="5" name="Text 1"/>
          <p:cNvSpPr/>
          <p:nvPr/>
        </p:nvSpPr>
        <p:spPr>
          <a:xfrm>
            <a:off x="4186042" y="2056702"/>
            <a:ext cx="771888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69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1816522" y="2759636"/>
            <a:ext cx="5510957" cy="52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504" i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Perception Technologies</a:t>
            </a:r>
            <a:endParaRPr lang="en-US" sz="350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28600"/>
            <a:ext cx="3529013" cy="7422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1113727"/>
            <a:ext cx="7772400" cy="585788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Perception: OWL-ViT &amp; MiDaS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685800" y="1985265"/>
            <a:ext cx="3714750" cy="1857375"/>
          </a:xfrm>
          <a:prstGeom prst="rect">
            <a:avLst/>
          </a:prstGeom>
          <a:solidFill>
            <a:srgbClr val="F3F4F6"/>
          </a:solidFill>
          <a:ln w="18288">
            <a:solidFill>
              <a:srgbClr val="9A0907"/>
            </a:solidFill>
            <a:prstDash val="dash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2403174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24893" y="2974674"/>
            <a:ext cx="14365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OWL-ViT v2</a:t>
            </a:r>
            <a:endParaRPr lang="en-US" sz="1193" dirty="0"/>
          </a:p>
        </p:txBody>
      </p:sp>
      <p:sp>
        <p:nvSpPr>
          <p:cNvPr id="8" name="Text 3"/>
          <p:cNvSpPr/>
          <p:nvPr/>
        </p:nvSpPr>
        <p:spPr>
          <a:xfrm>
            <a:off x="1824893" y="3231849"/>
            <a:ext cx="1436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Open-Vocabulary Detection</a:t>
            </a:r>
            <a:endParaRPr lang="en-US" sz="942" dirty="0"/>
          </a:p>
        </p:txBody>
      </p:sp>
      <p:sp>
        <p:nvSpPr>
          <p:cNvPr id="9" name="Text 4"/>
          <p:cNvSpPr/>
          <p:nvPr/>
        </p:nvSpPr>
        <p:spPr>
          <a:xfrm>
            <a:off x="685800" y="3956940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Zero-Shot Capability:</a:t>
            </a:r>
            <a:endParaRPr lang="en-US" sz="987" dirty="0"/>
          </a:p>
        </p:txBody>
      </p:sp>
      <p:sp>
        <p:nvSpPr>
          <p:cNvPr id="10" name="Text 5"/>
          <p:cNvSpPr/>
          <p:nvPr/>
        </p:nvSpPr>
        <p:spPr>
          <a:xfrm>
            <a:off x="857250" y="4171252"/>
            <a:ext cx="35433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500"/>
              </a:lnSpc>
              <a:buSzPct val="100000"/>
              <a:buChar char="•"/>
            </a:pPr>
            <a:r>
              <a:rPr lang="en-US" sz="942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any object without pre-training</a:t>
            </a:r>
            <a:endParaRPr lang="en-US" sz="942" dirty="0"/>
          </a:p>
        </p:txBody>
      </p:sp>
      <p:sp>
        <p:nvSpPr>
          <p:cNvPr id="11" name="Text 6"/>
          <p:cNvSpPr/>
          <p:nvPr/>
        </p:nvSpPr>
        <p:spPr>
          <a:xfrm>
            <a:off x="857250" y="4364134"/>
            <a:ext cx="35433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500"/>
              </a:lnSpc>
              <a:buSzPct val="100000"/>
              <a:buChar char="•"/>
            </a:pPr>
            <a:r>
              <a:rPr lang="en-US" sz="942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natural language search commands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857250" y="4557015"/>
            <a:ext cx="35433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500"/>
              </a:lnSpc>
              <a:buSzPct val="100000"/>
              <a:buChar char="•"/>
            </a:pPr>
            <a:r>
              <a:rPr lang="en-US" sz="942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Robust performance in complex backgrounds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4743450" y="1985265"/>
            <a:ext cx="3714750" cy="1857375"/>
          </a:xfrm>
          <a:prstGeom prst="rect">
            <a:avLst/>
          </a:prstGeom>
          <a:solidFill>
            <a:srgbClr val="F3F4F6"/>
          </a:solidFill>
          <a:ln w="18288">
            <a:solidFill>
              <a:srgbClr val="003070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22" y="2403174"/>
            <a:ext cx="51435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50843" y="2974674"/>
            <a:ext cx="14999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MiDaS_small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5850843" y="3231849"/>
            <a:ext cx="14999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Monocular Depth Estimation</a:t>
            </a:r>
            <a:endParaRPr lang="en-US" sz="942" dirty="0"/>
          </a:p>
        </p:txBody>
      </p:sp>
      <p:sp>
        <p:nvSpPr>
          <p:cNvPr id="17" name="Text 11"/>
          <p:cNvSpPr/>
          <p:nvPr/>
        </p:nvSpPr>
        <p:spPr>
          <a:xfrm>
            <a:off x="4743450" y="3956940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3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Spatial Awareness: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4914900" y="4171252"/>
            <a:ext cx="35433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500"/>
              </a:lnSpc>
              <a:buSzPct val="100000"/>
              <a:buChar char="•"/>
            </a:pPr>
            <a:r>
              <a:rPr lang="en-US" sz="942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depth map from a single lens</a:t>
            </a:r>
            <a:endParaRPr lang="en-US" sz="942" dirty="0"/>
          </a:p>
        </p:txBody>
      </p:sp>
      <p:sp>
        <p:nvSpPr>
          <p:cNvPr id="19" name="Text 13"/>
          <p:cNvSpPr/>
          <p:nvPr/>
        </p:nvSpPr>
        <p:spPr>
          <a:xfrm>
            <a:off x="4914900" y="4364134"/>
            <a:ext cx="35433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500"/>
              </a:lnSpc>
              <a:buSzPct val="100000"/>
              <a:buChar char="•"/>
            </a:pPr>
            <a:r>
              <a:rPr lang="en-US" sz="942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Estimate relative distance to hand/target</a:t>
            </a:r>
            <a:endParaRPr lang="en-US" sz="942" dirty="0"/>
          </a:p>
        </p:txBody>
      </p:sp>
      <p:sp>
        <p:nvSpPr>
          <p:cNvPr id="20" name="Text 14"/>
          <p:cNvSpPr/>
          <p:nvPr/>
        </p:nvSpPr>
        <p:spPr>
          <a:xfrm>
            <a:off x="4914900" y="4557015"/>
            <a:ext cx="35433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500"/>
              </a:lnSpc>
              <a:buSzPct val="100000"/>
              <a:buChar char="•"/>
            </a:pPr>
            <a:r>
              <a:rPr lang="en-US" sz="942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Low-power design for mobile deployment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143125" cy="5143500"/>
          </a:xfrm>
          <a:prstGeom prst="rect">
            <a:avLst/>
          </a:prstGeom>
          <a:solidFill>
            <a:srgbClr val="9A0907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400050"/>
            <a:ext cx="2143125" cy="285024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4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104" dirty="0"/>
          </a:p>
        </p:txBody>
      </p:sp>
      <p:sp>
        <p:nvSpPr>
          <p:cNvPr id="5" name="Text 2"/>
          <p:cNvSpPr/>
          <p:nvPr/>
        </p:nvSpPr>
        <p:spPr>
          <a:xfrm>
            <a:off x="0" y="913674"/>
            <a:ext cx="2143125" cy="285024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4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1104" dirty="0"/>
          </a:p>
        </p:txBody>
      </p:sp>
      <p:sp>
        <p:nvSpPr>
          <p:cNvPr id="6" name="Shape 3"/>
          <p:cNvSpPr/>
          <p:nvPr/>
        </p:nvSpPr>
        <p:spPr>
          <a:xfrm>
            <a:off x="326017" y="1427299"/>
            <a:ext cx="1376762" cy="603647"/>
          </a:xfrm>
          <a:prstGeom prst="rect">
            <a:avLst/>
          </a:prstGeom>
          <a:solidFill>
            <a:srgbClr val="E8E9EF"/>
          </a:solidFill>
          <a:ln/>
        </p:spPr>
      </p:sp>
      <p:sp>
        <p:nvSpPr>
          <p:cNvPr id="7" name="Text 4"/>
          <p:cNvSpPr/>
          <p:nvPr/>
        </p:nvSpPr>
        <p:spPr>
          <a:xfrm>
            <a:off x="497467" y="1541599"/>
            <a:ext cx="1033862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4" spc="1" kern="0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Tech</a:t>
            </a:r>
            <a:endParaRPr lang="en-US" sz="1104" dirty="0"/>
          </a:p>
        </p:txBody>
      </p:sp>
      <p:sp>
        <p:nvSpPr>
          <p:cNvPr id="8" name="Text 5"/>
          <p:cNvSpPr/>
          <p:nvPr/>
        </p:nvSpPr>
        <p:spPr>
          <a:xfrm>
            <a:off x="497467" y="1729122"/>
            <a:ext cx="1033862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4" spc="1" kern="0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104" dirty="0"/>
          </a:p>
        </p:txBody>
      </p:sp>
      <p:sp>
        <p:nvSpPr>
          <p:cNvPr id="9" name="Text 6"/>
          <p:cNvSpPr/>
          <p:nvPr/>
        </p:nvSpPr>
        <p:spPr>
          <a:xfrm>
            <a:off x="0" y="2259546"/>
            <a:ext cx="2143125" cy="285024"/>
          </a:xfrm>
          <a:prstGeom prst="rect">
            <a:avLst/>
          </a:prstGeom>
          <a:noFill/>
          <a:ln/>
        </p:spPr>
        <p:txBody>
          <a:bodyPr wrap="none" lIns="204089" tIns="0" rIns="204089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4" spc="1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104" dirty="0"/>
          </a:p>
        </p:txBody>
      </p:sp>
      <p:sp>
        <p:nvSpPr>
          <p:cNvPr id="10" name="Shape 7"/>
          <p:cNvSpPr/>
          <p:nvPr/>
        </p:nvSpPr>
        <p:spPr>
          <a:xfrm>
            <a:off x="2143125" y="0"/>
            <a:ext cx="7000875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2714625" y="358973"/>
            <a:ext cx="5438152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49" spc="2" kern="0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Interaction: MediaPipe &amp; LLM Error Correction</a:t>
            </a:r>
            <a:endParaRPr lang="en-US" sz="1649" dirty="0"/>
          </a:p>
        </p:txBody>
      </p:sp>
      <p:sp>
        <p:nvSpPr>
          <p:cNvPr id="12" name="Text 9"/>
          <p:cNvSpPr/>
          <p:nvPr/>
        </p:nvSpPr>
        <p:spPr>
          <a:xfrm>
            <a:off x="2714625" y="1091208"/>
            <a:ext cx="2757488" cy="321469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MediaPipe Hand Tracking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2857500" y="1584127"/>
            <a:ext cx="2614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High-Precision Tracking</a:t>
            </a:r>
            <a:r>
              <a:rPr lang="en-US" sz="105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Real-time 21 3D hand landmarks for spatial alignment.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857500" y="2127052"/>
            <a:ext cx="2614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Gesture Recognition</a:t>
            </a:r>
            <a:r>
              <a:rPr lang="en-US" sz="105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Detects "Open" and "Closed" states for user intent.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2857500" y="2669977"/>
            <a:ext cx="2614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Centimeter Precision</a:t>
            </a:r>
            <a:r>
              <a:rPr lang="en-US" sz="105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Fine-grained navigation via real-time distance calculation.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815013" y="1091208"/>
            <a:ext cx="2757488" cy="321469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LLM-Vision Interaction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957888" y="1584127"/>
            <a:ext cx="2614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Fusion</a:t>
            </a:r>
            <a:r>
              <a:rPr lang="en-US" sz="105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Combines Whisper ASR text with recent 4 video frames.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5957888" y="2127052"/>
            <a:ext cx="2614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Alignment</a:t>
            </a:r>
            <a:r>
              <a:rPr lang="en-US" sz="105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987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DeepSeek-v3.2</a:t>
            </a:r>
            <a:r>
              <a:rPr lang="en-US" sz="105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corrects ASR errors (e.g., "cup" vs "cap").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957888" y="2669977"/>
            <a:ext cx="2614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Robustness</a:t>
            </a:r>
            <a:r>
              <a:rPr lang="en-US" sz="105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Maintains interaction accuracy in noisy environments via visual context.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2714625" y="3441502"/>
            <a:ext cx="5857875" cy="72866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8"/>
          <p:cNvSpPr/>
          <p:nvPr/>
        </p:nvSpPr>
        <p:spPr>
          <a:xfrm>
            <a:off x="2714625" y="3441502"/>
            <a:ext cx="28575" cy="728663"/>
          </a:xfrm>
          <a:prstGeom prst="rect">
            <a:avLst/>
          </a:prstGeom>
          <a:solidFill>
            <a:srgbClr val="9A0907"/>
          </a:solidFill>
          <a:ln/>
        </p:spPr>
      </p:sp>
      <p:sp>
        <p:nvSpPr>
          <p:cNvPr id="22" name="Text 19"/>
          <p:cNvSpPr/>
          <p:nvPr/>
        </p:nvSpPr>
        <p:spPr>
          <a:xfrm>
            <a:off x="2886075" y="3612952"/>
            <a:ext cx="55149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37415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"By fusing visual perception with linguistic intelligence, the system evolves from 'seeing objects' to 'understanding intent,' providing a natural and reliable user experience."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71475"/>
            <a:ext cx="3529013" cy="7422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29100" y="1285177"/>
            <a:ext cx="6858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292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5292" dirty="0"/>
          </a:p>
        </p:txBody>
      </p:sp>
      <p:sp>
        <p:nvSpPr>
          <p:cNvPr id="5" name="Text 1"/>
          <p:cNvSpPr/>
          <p:nvPr/>
        </p:nvSpPr>
        <p:spPr>
          <a:xfrm>
            <a:off x="4129088" y="2056702"/>
            <a:ext cx="885825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69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2093454" y="2759636"/>
            <a:ext cx="4957093" cy="52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504" i="1" dirty="0">
                <a:solidFill>
                  <a:srgbClr val="9A09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350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2175" y="891880"/>
            <a:ext cx="693965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300" spc="13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Thanks for listening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1517098" y="1677693"/>
            <a:ext cx="610980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24" i="1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 Assist: Empowering the Future of the Visually Impaired</a:t>
            </a:r>
            <a:endParaRPr lang="en-US" sz="1924" dirty="0"/>
          </a:p>
        </p:txBody>
      </p:sp>
      <p:sp>
        <p:nvSpPr>
          <p:cNvPr id="5" name="Text 2"/>
          <p:cNvSpPr/>
          <p:nvPr/>
        </p:nvSpPr>
        <p:spPr>
          <a:xfrm>
            <a:off x="3273065" y="2955336"/>
            <a:ext cx="25978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Developer:</a:t>
            </a:r>
            <a:r>
              <a:rPr lang="en-US" sz="170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70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 Assist Team</a:t>
            </a:r>
            <a:endParaRPr lang="en-US" sz="1704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998"/>
            <a:ext cx="9144000" cy="1459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2026-04-09T06:37:53Z</dcterms:created>
  <dcterms:modified xsi:type="dcterms:W3CDTF">2026-04-09T06:37:53Z</dcterms:modified>
</cp:coreProperties>
</file>